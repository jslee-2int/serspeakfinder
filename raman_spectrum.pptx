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4" r:id="rId7"/>
    <p:sldId id="259" r:id="rId8"/>
    <p:sldId id="261" r:id="rId9"/>
    <p:sldId id="263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구역" id="{94896654-9737-412D-8A97-053692A4628E}">
          <p14:sldIdLst>
            <p14:sldId id="256"/>
            <p14:sldId id="257"/>
            <p14:sldId id="258"/>
            <p14:sldId id="260"/>
            <p14:sldId id="262"/>
            <p14:sldId id="264"/>
            <p14:sldId id="259"/>
            <p14:sldId id="261"/>
            <p14:sldId id="263"/>
            <p14:sldId id="266"/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4B1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17" autoAdjust="0"/>
    <p:restoredTop sz="97384" autoAdjust="0"/>
  </p:normalViewPr>
  <p:slideViewPr>
    <p:cSldViewPr snapToGrid="0">
      <p:cViewPr varScale="1">
        <p:scale>
          <a:sx n="159" d="100"/>
          <a:sy n="159" d="100"/>
        </p:scale>
        <p:origin x="10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bq-nas\BQ_Data\BA_&#54532;&#47196;&#51229;&#53944;\2024\10%20SERS\01%20Peck%20Classifier\20241202%201D%20CNN\resul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2466979770158512E-2"/>
          <c:y val="1.7329253205942856E-2"/>
          <c:w val="0.92333597937298728"/>
          <c:h val="0.9461245054123215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M0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4216136137719795E-2"/>
                  <c:y val="7.20250430676848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52D-47D8-A2E6-8496FECFCF33}"/>
                </c:ext>
              </c:extLst>
            </c:dLbl>
            <c:dLbl>
              <c:idx val="1"/>
              <c:layout>
                <c:manualLayout>
                  <c:x val="-3.4216136137719795E-2"/>
                  <c:y val="6.758453486375856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52D-47D8-A2E6-8496FECFCF33}"/>
                </c:ext>
              </c:extLst>
            </c:dLbl>
            <c:dLbl>
              <c:idx val="5"/>
              <c:layout>
                <c:manualLayout>
                  <c:x val="-3.4216136137719795E-2"/>
                  <c:y val="6.758453486375856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452D-47D8-A2E6-8496FECFCF33}"/>
                </c:ext>
              </c:extLst>
            </c:dLbl>
            <c:dLbl>
              <c:idx val="7"/>
              <c:layout>
                <c:manualLayout>
                  <c:x val="1.8969567703295432E-2"/>
                  <c:y val="4.98225020480532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52D-47D8-A2E6-8496FECFCF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Sheet1!$B$2:$I$2</c:f>
              <c:strCache>
                <c:ptCount val="8"/>
                <c:pt idx="0">
                  <c:v>small ng samp 4</c:v>
                </c:pt>
                <c:pt idx="1">
                  <c:v>small ng samp 5</c:v>
                </c:pt>
                <c:pt idx="2">
                  <c:v>small ng samp 6</c:v>
                </c:pt>
                <c:pt idx="3">
                  <c:v>small ng samp 7</c:v>
                </c:pt>
                <c:pt idx="4">
                  <c:v>small ng samp 8</c:v>
                </c:pt>
                <c:pt idx="5">
                  <c:v>small ng samp 9</c:v>
                </c:pt>
                <c:pt idx="6">
                  <c:v>small ng samp 10</c:v>
                </c:pt>
                <c:pt idx="7">
                  <c:v>Sum</c:v>
                </c:pt>
              </c:strCache>
            </c:strRef>
          </c:xVal>
          <c:yVal>
            <c:numRef>
              <c:f>Sheet1!$B$8:$I$8</c:f>
              <c:numCache>
                <c:formatCode>0.00%</c:formatCode>
                <c:ptCount val="8"/>
                <c:pt idx="0">
                  <c:v>0.87250000000000005</c:v>
                </c:pt>
                <c:pt idx="1">
                  <c:v>0.80500000000000005</c:v>
                </c:pt>
                <c:pt idx="2">
                  <c:v>0.84</c:v>
                </c:pt>
                <c:pt idx="3">
                  <c:v>0.97750000000000004</c:v>
                </c:pt>
                <c:pt idx="4">
                  <c:v>0.92249999999999999</c:v>
                </c:pt>
                <c:pt idx="5">
                  <c:v>0.875</c:v>
                </c:pt>
                <c:pt idx="6">
                  <c:v>0.78</c:v>
                </c:pt>
                <c:pt idx="7">
                  <c:v>0.86750000000000005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52D-47D8-A2E6-8496FECFCF33}"/>
            </c:ext>
          </c:extLst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M1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4216136137719795E-2"/>
                  <c:y val="9.422758408731647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452D-47D8-A2E6-8496FECFCF33}"/>
                </c:ext>
              </c:extLst>
            </c:dLbl>
            <c:dLbl>
              <c:idx val="1"/>
              <c:layout>
                <c:manualLayout>
                  <c:x val="-3.4216136137719795E-2"/>
                  <c:y val="6.3144026659832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52D-47D8-A2E6-8496FECFCF33}"/>
                </c:ext>
              </c:extLst>
            </c:dLbl>
            <c:dLbl>
              <c:idx val="6"/>
              <c:layout>
                <c:manualLayout>
                  <c:x val="-3.4216136137719906E-2"/>
                  <c:y val="8.97870758833901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452D-47D8-A2E6-8496FECFCF33}"/>
                </c:ext>
              </c:extLst>
            </c:dLbl>
            <c:dLbl>
              <c:idx val="7"/>
              <c:layout>
                <c:manualLayout>
                  <c:x val="1.8969567703295432E-2"/>
                  <c:y val="9.866809229124279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52D-47D8-A2E6-8496FECFCF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Sheet1!$B$10:$I$10</c:f>
              <c:strCache>
                <c:ptCount val="8"/>
                <c:pt idx="0">
                  <c:v>small ng samp 4</c:v>
                </c:pt>
                <c:pt idx="1">
                  <c:v>small ng samp 5</c:v>
                </c:pt>
                <c:pt idx="2">
                  <c:v>small ng samp 6</c:v>
                </c:pt>
                <c:pt idx="3">
                  <c:v>small ng samp 7</c:v>
                </c:pt>
                <c:pt idx="4">
                  <c:v>small ng samp 8</c:v>
                </c:pt>
                <c:pt idx="5">
                  <c:v>small ng samp 9</c:v>
                </c:pt>
                <c:pt idx="6">
                  <c:v>small ng samp 10</c:v>
                </c:pt>
                <c:pt idx="7">
                  <c:v>Sum</c:v>
                </c:pt>
              </c:strCache>
            </c:strRef>
          </c:xVal>
          <c:yVal>
            <c:numRef>
              <c:f>Sheet1!$B$16:$I$16</c:f>
              <c:numCache>
                <c:formatCode>0.00%</c:formatCode>
                <c:ptCount val="8"/>
                <c:pt idx="0">
                  <c:v>0.92749999999999999</c:v>
                </c:pt>
                <c:pt idx="1">
                  <c:v>0.84750000000000003</c:v>
                </c:pt>
                <c:pt idx="2">
                  <c:v>0.90500000000000003</c:v>
                </c:pt>
                <c:pt idx="3">
                  <c:v>0.99250000000000005</c:v>
                </c:pt>
                <c:pt idx="4">
                  <c:v>0.92249999999999999</c:v>
                </c:pt>
                <c:pt idx="5">
                  <c:v>0.93500000000000005</c:v>
                </c:pt>
                <c:pt idx="6">
                  <c:v>0.87</c:v>
                </c:pt>
                <c:pt idx="7">
                  <c:v>0.91428571428571426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52D-47D8-A2E6-8496FECFCF33}"/>
            </c:ext>
          </c:extLst>
        </c:ser>
        <c:ser>
          <c:idx val="2"/>
          <c:order val="2"/>
          <c:tx>
            <c:strRef>
              <c:f>Sheet1!$A$17</c:f>
              <c:strCache>
                <c:ptCount val="1"/>
                <c:pt idx="0">
                  <c:v>M2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4216136137719795E-2"/>
                  <c:y val="8.534656767946384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52D-47D8-A2E6-8496FECFCF33}"/>
                </c:ext>
              </c:extLst>
            </c:dLbl>
            <c:dLbl>
              <c:idx val="6"/>
              <c:layout>
                <c:manualLayout>
                  <c:x val="-3.4216136137719906E-2"/>
                  <c:y val="7.202504306768492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452D-47D8-A2E6-8496FECFCF33}"/>
                </c:ext>
              </c:extLst>
            </c:dLbl>
            <c:dLbl>
              <c:idx val="7"/>
              <c:layout>
                <c:manualLayout>
                  <c:x val="1.8969567703295432E-2"/>
                  <c:y val="3.650097743627429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52D-47D8-A2E6-8496FECFCF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Sheet1!$B$18:$I$18</c:f>
              <c:strCache>
                <c:ptCount val="8"/>
                <c:pt idx="0">
                  <c:v>small ng samp 4</c:v>
                </c:pt>
                <c:pt idx="1">
                  <c:v>small ng samp 5</c:v>
                </c:pt>
                <c:pt idx="2">
                  <c:v>small ng samp 6</c:v>
                </c:pt>
                <c:pt idx="3">
                  <c:v>small ng samp 7</c:v>
                </c:pt>
                <c:pt idx="4">
                  <c:v>small ng samp 8</c:v>
                </c:pt>
                <c:pt idx="5">
                  <c:v>small ng samp 9</c:v>
                </c:pt>
                <c:pt idx="6">
                  <c:v>small ng samp 10</c:v>
                </c:pt>
                <c:pt idx="7">
                  <c:v>Sum</c:v>
                </c:pt>
              </c:strCache>
            </c:strRef>
          </c:xVal>
          <c:yVal>
            <c:numRef>
              <c:f>Sheet1!$B$24:$I$24</c:f>
              <c:numCache>
                <c:formatCode>0.00%</c:formatCode>
                <c:ptCount val="8"/>
                <c:pt idx="0">
                  <c:v>0.95</c:v>
                </c:pt>
                <c:pt idx="1">
                  <c:v>0.88500000000000001</c:v>
                </c:pt>
                <c:pt idx="2">
                  <c:v>0.88500000000000001</c:v>
                </c:pt>
                <c:pt idx="3">
                  <c:v>0.995</c:v>
                </c:pt>
                <c:pt idx="4">
                  <c:v>0.90749999999999997</c:v>
                </c:pt>
                <c:pt idx="5">
                  <c:v>0.92249999999999999</c:v>
                </c:pt>
                <c:pt idx="6">
                  <c:v>0.90500000000000003</c:v>
                </c:pt>
                <c:pt idx="7">
                  <c:v>0.92142857142857137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52D-47D8-A2E6-8496FECFCF33}"/>
            </c:ext>
          </c:extLst>
        </c:ser>
        <c:ser>
          <c:idx val="3"/>
          <c:order val="3"/>
          <c:tx>
            <c:strRef>
              <c:f>Sheet1!$A$25</c:f>
              <c:strCache>
                <c:ptCount val="1"/>
                <c:pt idx="0">
                  <c:v>M3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5693516799970217E-2"/>
                  <c:y val="8.97870758833901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452D-47D8-A2E6-8496FECFCF33}"/>
                </c:ext>
              </c:extLst>
            </c:dLbl>
            <c:dLbl>
              <c:idx val="1"/>
              <c:layout>
                <c:manualLayout>
                  <c:x val="-3.4216136137719795E-2"/>
                  <c:y val="7.20250430676848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52D-47D8-A2E6-8496FECFCF33}"/>
                </c:ext>
              </c:extLst>
            </c:dLbl>
            <c:dLbl>
              <c:idx val="6"/>
              <c:layout>
                <c:manualLayout>
                  <c:x val="-3.4216136137719906E-2"/>
                  <c:y val="7.646555127161119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452D-47D8-A2E6-8496FECFCF33}"/>
                </c:ext>
              </c:extLst>
            </c:dLbl>
            <c:dLbl>
              <c:idx val="7"/>
              <c:layout>
                <c:manualLayout>
                  <c:x val="2.0446948365545746E-2"/>
                  <c:y val="9.7691180486376961E-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52D-47D8-A2E6-8496FECFCF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Sheet1!$B$26:$I$26</c:f>
              <c:strCache>
                <c:ptCount val="8"/>
                <c:pt idx="0">
                  <c:v>small ng samp 4</c:v>
                </c:pt>
                <c:pt idx="1">
                  <c:v>small ng samp 5</c:v>
                </c:pt>
                <c:pt idx="2">
                  <c:v>small ng samp 6</c:v>
                </c:pt>
                <c:pt idx="3">
                  <c:v>small ng samp 7</c:v>
                </c:pt>
                <c:pt idx="4">
                  <c:v>small ng samp 8</c:v>
                </c:pt>
                <c:pt idx="5">
                  <c:v>small ng samp 9</c:v>
                </c:pt>
                <c:pt idx="6">
                  <c:v>small ng samp 10</c:v>
                </c:pt>
                <c:pt idx="7">
                  <c:v>Sum</c:v>
                </c:pt>
              </c:strCache>
            </c:strRef>
          </c:xVal>
          <c:yVal>
            <c:numRef>
              <c:f>Sheet1!$B$32:$I$32</c:f>
              <c:numCache>
                <c:formatCode>0.00%</c:formatCode>
                <c:ptCount val="8"/>
                <c:pt idx="0">
                  <c:v>0.97250000000000003</c:v>
                </c:pt>
                <c:pt idx="1">
                  <c:v>0.89</c:v>
                </c:pt>
                <c:pt idx="2">
                  <c:v>0.94499999999999995</c:v>
                </c:pt>
                <c:pt idx="3">
                  <c:v>1</c:v>
                </c:pt>
                <c:pt idx="4">
                  <c:v>0.91</c:v>
                </c:pt>
                <c:pt idx="5">
                  <c:v>0.92249999999999999</c:v>
                </c:pt>
                <c:pt idx="6">
                  <c:v>0.95</c:v>
                </c:pt>
                <c:pt idx="7">
                  <c:v>0.94142857142857139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52D-47D8-A2E6-8496FECFCF33}"/>
            </c:ext>
          </c:extLst>
        </c:ser>
        <c:ser>
          <c:idx val="4"/>
          <c:order val="4"/>
          <c:tx>
            <c:strRef>
              <c:f>Sheet1!$A$33</c:f>
              <c:strCache>
                <c:ptCount val="1"/>
                <c:pt idx="0">
                  <c:v>M4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7170897462220645E-2"/>
                  <c:y val="2.084294132270501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52D-47D8-A2E6-8496FECFCF33}"/>
                </c:ext>
              </c:extLst>
            </c:dLbl>
            <c:dLbl>
              <c:idx val="1"/>
              <c:layout>
                <c:manualLayout>
                  <c:x val="-3.5693516799970244E-2"/>
                  <c:y val="-2.122545439161016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452D-47D8-A2E6-8496FECFCF33}"/>
                </c:ext>
              </c:extLst>
            </c:dLbl>
            <c:dLbl>
              <c:idx val="6"/>
              <c:layout>
                <c:manualLayout>
                  <c:x val="-3.2738755475469485E-2"/>
                  <c:y val="4.53821686672846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452D-47D8-A2E6-8496FECFCF33}"/>
                </c:ext>
              </c:extLst>
            </c:dLbl>
            <c:dLbl>
              <c:idx val="7"/>
              <c:layout>
                <c:manualLayout>
                  <c:x val="2.0446948365545746E-2"/>
                  <c:y val="-2.566596259553649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52D-47D8-A2E6-8496FECFCF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60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Sheet1!$B$34:$I$34</c:f>
              <c:strCache>
                <c:ptCount val="8"/>
                <c:pt idx="0">
                  <c:v>small ng samp 4</c:v>
                </c:pt>
                <c:pt idx="1">
                  <c:v>small ng samp 5</c:v>
                </c:pt>
                <c:pt idx="2">
                  <c:v>small ng samp 6</c:v>
                </c:pt>
                <c:pt idx="3">
                  <c:v>small ng samp 7</c:v>
                </c:pt>
                <c:pt idx="4">
                  <c:v>small ng samp 8</c:v>
                </c:pt>
                <c:pt idx="5">
                  <c:v>small ng samp 9</c:v>
                </c:pt>
                <c:pt idx="6">
                  <c:v>small ng samp 10</c:v>
                </c:pt>
                <c:pt idx="7">
                  <c:v>Sum</c:v>
                </c:pt>
              </c:strCache>
            </c:strRef>
          </c:xVal>
          <c:yVal>
            <c:numRef>
              <c:f>Sheet1!$B$40:$I$40</c:f>
              <c:numCache>
                <c:formatCode>0.00%</c:formatCode>
                <c:ptCount val="8"/>
                <c:pt idx="0">
                  <c:v>0.97499999999999998</c:v>
                </c:pt>
                <c:pt idx="1">
                  <c:v>0.94750000000000001</c:v>
                </c:pt>
                <c:pt idx="2">
                  <c:v>0.96250000000000002</c:v>
                </c:pt>
                <c:pt idx="3">
                  <c:v>0.99</c:v>
                </c:pt>
                <c:pt idx="4">
                  <c:v>0.94750000000000001</c:v>
                </c:pt>
                <c:pt idx="5">
                  <c:v>0.9325</c:v>
                </c:pt>
                <c:pt idx="6">
                  <c:v>0.97</c:v>
                </c:pt>
                <c:pt idx="7">
                  <c:v>0.96071428571428574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452D-47D8-A2E6-8496FECFCF33}"/>
            </c:ext>
          </c:extLst>
        </c:ser>
        <c:ser>
          <c:idx val="5"/>
          <c:order val="5"/>
          <c:tx>
            <c:strRef>
              <c:f>Sheet1!$A$41</c:f>
              <c:strCache>
                <c:ptCount val="1"/>
                <c:pt idx="0">
                  <c:v>M5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5693516799970217E-2"/>
                  <c:y val="-2.51588006152376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452D-47D8-A2E6-8496FECFCF33}"/>
                </c:ext>
              </c:extLst>
            </c:dLbl>
            <c:dLbl>
              <c:idx val="1"/>
              <c:layout>
                <c:manualLayout>
                  <c:x val="-3.4216136137719795E-2"/>
                  <c:y val="-0.1011547768854415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52D-47D8-A2E6-8496FECFCF33}"/>
                </c:ext>
              </c:extLst>
            </c:dLbl>
            <c:dLbl>
              <c:idx val="5"/>
              <c:layout>
                <c:manualLayout>
                  <c:x val="-3.4216136137719795E-2"/>
                  <c:y val="-0.1233573179050731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452D-47D8-A2E6-8496FECFCF33}"/>
                </c:ext>
              </c:extLst>
            </c:dLbl>
            <c:dLbl>
              <c:idx val="6"/>
              <c:layout>
                <c:manualLayout>
                  <c:x val="-3.5693516799970217E-2"/>
                  <c:y val="-6.56307112540309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452D-47D8-A2E6-8496FECFCF33}"/>
                </c:ext>
              </c:extLst>
            </c:dLbl>
            <c:dLbl>
              <c:idx val="7"/>
              <c:layout>
                <c:manualLayout>
                  <c:x val="2.0446948365545746E-2"/>
                  <c:y val="-7.0071219457957301E-2"/>
                </c:manualLayout>
              </c:layout>
              <c:tx>
                <c:rich>
                  <a:bodyPr/>
                  <a:lstStyle/>
                  <a:p>
                    <a:fld id="{46BBF2D5-4E4A-497F-A363-0864E1133A62}" type="YVALUE">
                      <a:rPr lang="en-US" altLang="ko-KR" b="1">
                        <a:solidFill>
                          <a:srgbClr val="FF0000"/>
                        </a:solidFill>
                      </a:rPr>
                      <a:pPr/>
                      <a:t>[Y 값]</a:t>
                    </a:fld>
                    <a:endParaRPr lang="ko-KR" altLang="en-US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452D-47D8-A2E6-8496FECFCF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Sheet1!$B$42:$I$42</c:f>
              <c:strCache>
                <c:ptCount val="8"/>
                <c:pt idx="0">
                  <c:v>small ng samp 4</c:v>
                </c:pt>
                <c:pt idx="1">
                  <c:v>small ng samp 5</c:v>
                </c:pt>
                <c:pt idx="2">
                  <c:v>small ng samp 6</c:v>
                </c:pt>
                <c:pt idx="3">
                  <c:v>small ng samp 7</c:v>
                </c:pt>
                <c:pt idx="4">
                  <c:v>small ng samp 8</c:v>
                </c:pt>
                <c:pt idx="5">
                  <c:v>small ng samp 9</c:v>
                </c:pt>
                <c:pt idx="6">
                  <c:v>small ng samp 10</c:v>
                </c:pt>
                <c:pt idx="7">
                  <c:v>Sum</c:v>
                </c:pt>
              </c:strCache>
            </c:strRef>
          </c:xVal>
          <c:yVal>
            <c:numRef>
              <c:f>Sheet1!$B$48:$I$48</c:f>
              <c:numCache>
                <c:formatCode>0.00%</c:formatCode>
                <c:ptCount val="8"/>
                <c:pt idx="0">
                  <c:v>0.98499999999999999</c:v>
                </c:pt>
                <c:pt idx="1">
                  <c:v>0.95</c:v>
                </c:pt>
                <c:pt idx="2">
                  <c:v>0.98250000000000004</c:v>
                </c:pt>
                <c:pt idx="3">
                  <c:v>0.995</c:v>
                </c:pt>
                <c:pt idx="4">
                  <c:v>0.95250000000000001</c:v>
                </c:pt>
                <c:pt idx="5">
                  <c:v>0.95250000000000001</c:v>
                </c:pt>
                <c:pt idx="6">
                  <c:v>0.97250000000000003</c:v>
                </c:pt>
                <c:pt idx="7">
                  <c:v>0.97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452D-47D8-A2E6-8496FECFCF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39445152"/>
        <c:axId val="1239445632"/>
      </c:scatterChart>
      <c:valAx>
        <c:axId val="1239445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39445632"/>
        <c:crosses val="autoZero"/>
        <c:crossBetween val="midCat"/>
      </c:valAx>
      <c:valAx>
        <c:axId val="1239445632"/>
        <c:scaling>
          <c:orientation val="minMax"/>
          <c:max val="1"/>
          <c:min val="0.7000000000000000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3944515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7.1672505422394187E-2"/>
          <c:y val="0.29951087976956908"/>
          <c:w val="7.0239446180011267E-2"/>
          <c:h val="0.58321704679631314"/>
        </c:manualLayout>
      </c:layout>
      <c:overlay val="0"/>
      <c:spPr>
        <a:solidFill>
          <a:schemeClr val="bg1"/>
        </a:solidFill>
        <a:ln>
          <a:solidFill>
            <a:schemeClr val="tx1">
              <a:lumMod val="75000"/>
              <a:lumOff val="2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77954F-2A67-387A-913E-B042EFC95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94E4E16-B235-BA8D-059A-A37BA4B0C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87F89F-7A12-CA2A-F3E7-4AEBAB8A4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04A5F-7ECD-46E0-9887-231750C0D47D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613CA4-AC63-EA67-471D-E1029608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D6C452-5698-E471-34DE-1B7E51D1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1A1A5-CA1E-4CF9-89A9-08C455DFF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212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BEC62-F65E-AE38-B45F-B6C47EF7D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1ABDD5-7EFA-C7A0-C90C-42AEB118D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446D02-6A6B-A981-BEED-05442DC12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04A5F-7ECD-46E0-9887-231750C0D47D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C50446-4AEB-CD19-9E1A-4AD619A84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FA2560-7BF5-AA22-3FFC-952C71591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1A1A5-CA1E-4CF9-89A9-08C455DFF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347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EC258-3357-896E-97DE-049B50979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23F6A5-56D0-9BFD-F6A3-93E53B0C7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83F86C-846A-E78B-CC8B-18EFB801A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04A5F-7ECD-46E0-9887-231750C0D47D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29C63D-17E0-00F2-6E36-757394DC2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669853-C6EA-7B36-08C1-54DDB5C21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1A1A5-CA1E-4CF9-89A9-08C455DFF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580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E55CBC-F8E6-BF5D-73BB-7FC90641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E640C2-E2C1-345F-F07D-EDB1E96B2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8C04D2-04AC-73D4-A8BF-315142030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CA62C2-AFF3-2169-6BA1-EB6162E7E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04A5F-7ECD-46E0-9887-231750C0D47D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1AB8E0-183D-8971-34A8-6836F573B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D13CA8-4806-73C1-E12B-796CBB309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1A1A5-CA1E-4CF9-89A9-08C455DFF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927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FE00F-CC78-38F3-C41B-2E20274DB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66E757-2236-4B22-0D1B-977CFE4A8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CDA915-6104-64AD-76CC-C593C718D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8519A4-7606-36D9-65B6-D1F40AF74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0619CB-0FF1-402D-927C-8A32C8904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1460D4-CE1B-922E-61E2-A8C7149D6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04A5F-7ECD-46E0-9887-231750C0D47D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96931C-C7F4-C810-E617-1A516D338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EC3BEA8-E8DC-B779-510D-70D86B41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1A1A5-CA1E-4CF9-89A9-08C455DFF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929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EC67D-2F67-CFD2-CE86-3C44F9E64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9C5F6A-0D7E-5807-A0F0-D80464B9E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04A5F-7ECD-46E0-9887-231750C0D47D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E302F0-36B5-A9EC-FF5A-73866A83F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53AAFF-0AB6-9D7E-413D-3D9463709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1A1A5-CA1E-4CF9-89A9-08C455DFF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222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14E749-6865-C2FD-404E-C36AA4AEF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04A5F-7ECD-46E0-9887-231750C0D47D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10B4509-81CD-5A4E-5B2F-AF8123BA7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28B938-AE80-5DEB-36E3-A82F3B5D3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1A1A5-CA1E-4CF9-89A9-08C455DFF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943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EA6F8-9A2D-D0AF-5F11-F605AC4C6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D41162-9F0A-4289-00CC-AD765FA57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3456F3-76C2-D68A-08F4-8371D3885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A98A23-1630-266D-BD83-E5E8D54AD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04A5F-7ECD-46E0-9887-231750C0D47D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AD4787-E430-4672-62C4-1319C74F1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F69AC8-4A55-E436-3BE4-9723B435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1A1A5-CA1E-4CF9-89A9-08C455DFF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363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8B57AD-6A2B-EBE9-F25B-D8DD38312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0C5C8CD-3927-75E5-2790-9EAD0C76CC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2E5117-E9CE-9112-E7B5-0DB085CBC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549F29-BB81-4744-5048-142740BF2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04A5F-7ECD-46E0-9887-231750C0D47D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6E254E-E239-A19F-E08F-B5C2D862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80D64D-7125-49DF-E91B-44F92410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1A1A5-CA1E-4CF9-89A9-08C455DFF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405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C48411-9640-A342-F9B7-192FC7D70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D85CB8-8E02-1862-F1DE-93DF9FF18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9FE065-5E7D-6CAA-7DB5-503D02F15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04A5F-7ECD-46E0-9887-231750C0D47D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7AB870-3E79-2C2D-BF5F-E5B9698F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E65118-AA7B-3F2B-871C-DFCCC0C6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1A1A5-CA1E-4CF9-89A9-08C455DFF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930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C5DA51-19E2-C340-85F2-018C63CD76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78D919-948A-9130-00D6-E47345AE7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DF588F-C1D8-3437-92C9-B0F7D1E7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04A5F-7ECD-46E0-9887-231750C0D47D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311604-30BC-249C-A7A4-E93B270E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314E40-7C57-9526-02BB-9E392FA6B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1A1A5-CA1E-4CF9-89A9-08C455DFF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67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930DCF-B5CD-4B88-0477-ADBB8F756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289256-0B16-4C3A-BA43-64781CB02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7A2307-9E88-D7EE-5BC7-66DCCB4855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904A5F-7ECD-46E0-9887-231750C0D47D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213602-B474-C016-9B93-E81A2DF20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EE58AE-3538-8FA0-666C-4A77592FDF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B1A1A5-CA1E-4CF9-89A9-08C455DFF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767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9A399C16-24CF-17A2-380F-38E7A4ADC7FD}"/>
              </a:ext>
            </a:extLst>
          </p:cNvPr>
          <p:cNvGrpSpPr/>
          <p:nvPr/>
        </p:nvGrpSpPr>
        <p:grpSpPr>
          <a:xfrm>
            <a:off x="647858" y="1082833"/>
            <a:ext cx="2109164" cy="598713"/>
            <a:chOff x="601663" y="706438"/>
            <a:chExt cx="2270125" cy="1501775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35D3B33-0B51-2A35-F0BD-8E25FBCF6F7A}"/>
                </a:ext>
              </a:extLst>
            </p:cNvPr>
            <p:cNvSpPr/>
            <p:nvPr/>
          </p:nvSpPr>
          <p:spPr>
            <a:xfrm>
              <a:off x="601663" y="706438"/>
              <a:ext cx="2270125" cy="1501775"/>
            </a:xfrm>
            <a:prstGeom prst="round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CD48ECDB-3E31-1E0A-9C2E-DD6FB364312D}"/>
                </a:ext>
              </a:extLst>
            </p:cNvPr>
            <p:cNvSpPr/>
            <p:nvPr/>
          </p:nvSpPr>
          <p:spPr>
            <a:xfrm>
              <a:off x="704850" y="774700"/>
              <a:ext cx="2063750" cy="136525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Spectrum Data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B5FC820-C69F-B070-2CBC-6E9874E1954F}"/>
              </a:ext>
            </a:extLst>
          </p:cNvPr>
          <p:cNvGrpSpPr/>
          <p:nvPr/>
        </p:nvGrpSpPr>
        <p:grpSpPr>
          <a:xfrm>
            <a:off x="649854" y="1875374"/>
            <a:ext cx="2109164" cy="598713"/>
            <a:chOff x="601663" y="706438"/>
            <a:chExt cx="2270125" cy="1501775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C25CC690-36DC-4268-5B4C-F5A38085159E}"/>
                </a:ext>
              </a:extLst>
            </p:cNvPr>
            <p:cNvSpPr/>
            <p:nvPr/>
          </p:nvSpPr>
          <p:spPr>
            <a:xfrm>
              <a:off x="601663" y="706438"/>
              <a:ext cx="2270125" cy="1501775"/>
            </a:xfrm>
            <a:prstGeom prst="round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702AF1A0-ED6C-DDD9-E086-463CF4153730}"/>
                </a:ext>
              </a:extLst>
            </p:cNvPr>
            <p:cNvSpPr/>
            <p:nvPr/>
          </p:nvSpPr>
          <p:spPr>
            <a:xfrm>
              <a:off x="704850" y="774700"/>
              <a:ext cx="2063750" cy="136525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Data Separation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E6D8C6A-0305-3145-DCE4-4020ED3B1B30}"/>
              </a:ext>
            </a:extLst>
          </p:cNvPr>
          <p:cNvGrpSpPr/>
          <p:nvPr/>
        </p:nvGrpSpPr>
        <p:grpSpPr>
          <a:xfrm>
            <a:off x="647858" y="2698104"/>
            <a:ext cx="2109164" cy="598713"/>
            <a:chOff x="601663" y="706438"/>
            <a:chExt cx="2270125" cy="1501775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5C67F6DA-397C-D7D1-202B-A2E7C56349FC}"/>
                </a:ext>
              </a:extLst>
            </p:cNvPr>
            <p:cNvSpPr/>
            <p:nvPr/>
          </p:nvSpPr>
          <p:spPr>
            <a:xfrm>
              <a:off x="601663" y="706438"/>
              <a:ext cx="2270125" cy="1501775"/>
            </a:xfrm>
            <a:prstGeom prst="round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CF2AE17C-2038-5D63-F958-B803A595CD00}"/>
                </a:ext>
              </a:extLst>
            </p:cNvPr>
            <p:cNvSpPr/>
            <p:nvPr/>
          </p:nvSpPr>
          <p:spPr>
            <a:xfrm>
              <a:off x="704850" y="774700"/>
              <a:ext cx="2063750" cy="136525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Data Classification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BC53F34-EFDA-02E7-CD72-B3C843C72E48}"/>
              </a:ext>
            </a:extLst>
          </p:cNvPr>
          <p:cNvGrpSpPr/>
          <p:nvPr/>
        </p:nvGrpSpPr>
        <p:grpSpPr>
          <a:xfrm>
            <a:off x="649854" y="3490645"/>
            <a:ext cx="2109164" cy="598713"/>
            <a:chOff x="601663" y="706438"/>
            <a:chExt cx="2270125" cy="1501775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194C52C3-4649-2E6E-9F5E-BC1480730BB1}"/>
                </a:ext>
              </a:extLst>
            </p:cNvPr>
            <p:cNvSpPr/>
            <p:nvPr/>
          </p:nvSpPr>
          <p:spPr>
            <a:xfrm>
              <a:off x="601663" y="706438"/>
              <a:ext cx="2270125" cy="1501775"/>
            </a:xfrm>
            <a:prstGeom prst="round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E0EB5A2-6C1F-E960-84CE-7A408D54C906}"/>
                </a:ext>
              </a:extLst>
            </p:cNvPr>
            <p:cNvSpPr/>
            <p:nvPr/>
          </p:nvSpPr>
          <p:spPr>
            <a:xfrm>
              <a:off x="704850" y="774700"/>
              <a:ext cx="2063750" cy="136525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1D-CNN Training</a:t>
              </a:r>
              <a:br>
                <a:rPr lang="en-US" altLang="ko-KR" sz="1400" dirty="0">
                  <a:solidFill>
                    <a:schemeClr val="tx1"/>
                  </a:solidFill>
                </a:rPr>
              </a:br>
              <a:r>
                <a:rPr lang="en-US" altLang="ko-KR" sz="1400" dirty="0">
                  <a:solidFill>
                    <a:schemeClr val="tx1"/>
                  </a:solidFill>
                </a:rPr>
                <a:t>(deep leaning)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58DD509-178F-0A9F-0353-8D1A215985AF}"/>
              </a:ext>
            </a:extLst>
          </p:cNvPr>
          <p:cNvGrpSpPr/>
          <p:nvPr/>
        </p:nvGrpSpPr>
        <p:grpSpPr>
          <a:xfrm>
            <a:off x="645862" y="4288980"/>
            <a:ext cx="2109164" cy="598713"/>
            <a:chOff x="601663" y="706438"/>
            <a:chExt cx="2270125" cy="1501775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16C138ED-EA0E-863F-7425-60F57A7EB850}"/>
                </a:ext>
              </a:extLst>
            </p:cNvPr>
            <p:cNvSpPr/>
            <p:nvPr/>
          </p:nvSpPr>
          <p:spPr>
            <a:xfrm>
              <a:off x="601663" y="706438"/>
              <a:ext cx="2270125" cy="1501775"/>
            </a:xfrm>
            <a:prstGeom prst="round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3090FC0F-44A6-9105-601A-799223A34D6B}"/>
                </a:ext>
              </a:extLst>
            </p:cNvPr>
            <p:cNvSpPr/>
            <p:nvPr/>
          </p:nvSpPr>
          <p:spPr>
            <a:xfrm>
              <a:off x="704850" y="774700"/>
              <a:ext cx="2063750" cy="136525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Prediction</a:t>
              </a:r>
              <a:br>
                <a:rPr lang="en-US" altLang="ko-KR" sz="1400" dirty="0">
                  <a:solidFill>
                    <a:schemeClr val="tx1"/>
                  </a:solidFill>
                </a:rPr>
              </a:br>
              <a:r>
                <a:rPr lang="en-US" altLang="ko-KR" sz="1400" dirty="0">
                  <a:solidFill>
                    <a:schemeClr val="tx1"/>
                  </a:solidFill>
                </a:rPr>
                <a:t>(with model)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AA428A6-6919-E728-1DE5-D78EF682CA93}"/>
              </a:ext>
            </a:extLst>
          </p:cNvPr>
          <p:cNvGrpSpPr/>
          <p:nvPr/>
        </p:nvGrpSpPr>
        <p:grpSpPr>
          <a:xfrm>
            <a:off x="647858" y="5081521"/>
            <a:ext cx="2109164" cy="598713"/>
            <a:chOff x="601663" y="706438"/>
            <a:chExt cx="2270125" cy="1501775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4E2EF036-6590-BDF8-A90D-D1E67040FDD8}"/>
                </a:ext>
              </a:extLst>
            </p:cNvPr>
            <p:cNvSpPr/>
            <p:nvPr/>
          </p:nvSpPr>
          <p:spPr>
            <a:xfrm>
              <a:off x="601663" y="706438"/>
              <a:ext cx="2270125" cy="1501775"/>
            </a:xfrm>
            <a:prstGeom prst="round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A0C9C925-BBD3-2748-FD4B-7F166270BFA4}"/>
                </a:ext>
              </a:extLst>
            </p:cNvPr>
            <p:cNvSpPr/>
            <p:nvPr/>
          </p:nvSpPr>
          <p:spPr>
            <a:xfrm>
              <a:off x="704850" y="774700"/>
              <a:ext cx="2063750" cy="136525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Comparison with AI and Worker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FEEFF98-2FF9-A5F7-35AB-770F4CA0EABD}"/>
              </a:ext>
            </a:extLst>
          </p:cNvPr>
          <p:cNvGrpSpPr/>
          <p:nvPr/>
        </p:nvGrpSpPr>
        <p:grpSpPr>
          <a:xfrm>
            <a:off x="645862" y="5904251"/>
            <a:ext cx="2109164" cy="598713"/>
            <a:chOff x="601663" y="706438"/>
            <a:chExt cx="2270125" cy="1501775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18515F94-D8B1-3574-3188-53E6A6160C04}"/>
                </a:ext>
              </a:extLst>
            </p:cNvPr>
            <p:cNvSpPr/>
            <p:nvPr/>
          </p:nvSpPr>
          <p:spPr>
            <a:xfrm>
              <a:off x="601663" y="706438"/>
              <a:ext cx="2270125" cy="1501775"/>
            </a:xfrm>
            <a:prstGeom prst="round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BF0DE15E-5374-6042-D151-21AD55603D01}"/>
                </a:ext>
              </a:extLst>
            </p:cNvPr>
            <p:cNvSpPr/>
            <p:nvPr/>
          </p:nvSpPr>
          <p:spPr>
            <a:xfrm>
              <a:off x="704850" y="774700"/>
              <a:ext cx="2063750" cy="136525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Interpolation and integration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40D32A49-05D2-1254-2CAE-904495E285F6}"/>
              </a:ext>
            </a:extLst>
          </p:cNvPr>
          <p:cNvCxnSpPr>
            <a:cxnSpLocks/>
          </p:cNvCxnSpPr>
          <p:nvPr/>
        </p:nvCxnSpPr>
        <p:spPr>
          <a:xfrm>
            <a:off x="343759" y="1332555"/>
            <a:ext cx="0" cy="486075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499633F2-50C2-D8A1-AD65-ED10EA5FE93F}"/>
              </a:ext>
            </a:extLst>
          </p:cNvPr>
          <p:cNvSpPr/>
          <p:nvPr/>
        </p:nvSpPr>
        <p:spPr>
          <a:xfrm>
            <a:off x="233757" y="1219114"/>
            <a:ext cx="220004" cy="226882"/>
          </a:xfrm>
          <a:prstGeom prst="downArrow">
            <a:avLst/>
          </a:prstGeom>
          <a:gradFill>
            <a:gsLst>
              <a:gs pos="0">
                <a:srgbClr val="FFFFFF"/>
              </a:gs>
              <a:gs pos="48000">
                <a:srgbClr val="04B1B6"/>
              </a:gs>
            </a:gsLst>
            <a:lin ang="480000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71909930-4064-FFD4-52F3-853F5EE0542B}"/>
              </a:ext>
            </a:extLst>
          </p:cNvPr>
          <p:cNvSpPr/>
          <p:nvPr/>
        </p:nvSpPr>
        <p:spPr>
          <a:xfrm>
            <a:off x="257820" y="6107374"/>
            <a:ext cx="171878" cy="171878"/>
          </a:xfrm>
          <a:prstGeom prst="ellipse">
            <a:avLst/>
          </a:prstGeom>
          <a:gradFill>
            <a:gsLst>
              <a:gs pos="0">
                <a:srgbClr val="FFFFFF"/>
              </a:gs>
              <a:gs pos="48000">
                <a:srgbClr val="04B1B6"/>
              </a:gs>
            </a:gsLst>
            <a:lin ang="480000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7C97AE-B870-92E6-5388-553A323584A9}"/>
              </a:ext>
            </a:extLst>
          </p:cNvPr>
          <p:cNvSpPr txBox="1"/>
          <p:nvPr/>
        </p:nvSpPr>
        <p:spPr>
          <a:xfrm>
            <a:off x="343759" y="423788"/>
            <a:ext cx="6897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j-lt"/>
              </a:rPr>
              <a:t>1. </a:t>
            </a:r>
            <a:r>
              <a:rPr lang="ko-KR" altLang="en-US" b="1" dirty="0">
                <a:latin typeface="+mj-lt"/>
              </a:rPr>
              <a:t>목적 </a:t>
            </a:r>
            <a:r>
              <a:rPr lang="en-US" altLang="ko-KR" b="1" dirty="0">
                <a:latin typeface="+mj-lt"/>
              </a:rPr>
              <a:t>: Raman Spectrum</a:t>
            </a:r>
            <a:r>
              <a:rPr lang="ko-KR" altLang="en-US" b="1" dirty="0">
                <a:latin typeface="+mj-lt"/>
              </a:rPr>
              <a:t>으로 부터 </a:t>
            </a:r>
            <a:r>
              <a:rPr lang="en-US" altLang="ko-KR" b="1" dirty="0">
                <a:latin typeface="+mj-lt"/>
              </a:rPr>
              <a:t>Nano plastic </a:t>
            </a:r>
            <a:r>
              <a:rPr lang="ko-KR" altLang="en-US" b="1" dirty="0">
                <a:latin typeface="+mj-lt"/>
              </a:rPr>
              <a:t>성분 정량화</a:t>
            </a:r>
            <a:r>
              <a:rPr lang="en-US" altLang="ko-KR" b="1" dirty="0">
                <a:latin typeface="+mj-lt"/>
              </a:rPr>
              <a:t> </a:t>
            </a:r>
            <a:endParaRPr lang="ko-KR" altLang="en-US" b="1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465027-83B6-46B0-697B-2EACDDAA7722}"/>
              </a:ext>
            </a:extLst>
          </p:cNvPr>
          <p:cNvSpPr txBox="1"/>
          <p:nvPr/>
        </p:nvSpPr>
        <p:spPr>
          <a:xfrm>
            <a:off x="3371850" y="1191614"/>
            <a:ext cx="307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Measurement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Raw data</a:t>
            </a:r>
            <a:r>
              <a:rPr lang="ko-KR" alt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C693E-2F19-3A49-9FA1-0AFA362A3A81}"/>
              </a:ext>
            </a:extLst>
          </p:cNvPr>
          <p:cNvSpPr txBox="1"/>
          <p:nvPr/>
        </p:nvSpPr>
        <p:spPr>
          <a:xfrm>
            <a:off x="3371850" y="1957216"/>
            <a:ext cx="322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Raw data </a:t>
            </a:r>
            <a:r>
              <a:rPr lang="en-US" altLang="ko-KR" dirty="0">
                <a:sym typeface="Wingdings" panose="05000000000000000000" pitchFamily="2" charset="2"/>
              </a:rPr>
              <a:t> Data Separation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F9CC9C-6EF4-7F5B-AA57-C22995AEBA73}"/>
              </a:ext>
            </a:extLst>
          </p:cNvPr>
          <p:cNvSpPr txBox="1"/>
          <p:nvPr/>
        </p:nvSpPr>
        <p:spPr>
          <a:xfrm>
            <a:off x="3371850" y="2815456"/>
            <a:ext cx="171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Peak “o” or “x”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A645F0-636B-236A-F10B-5BD6345624DF}"/>
              </a:ext>
            </a:extLst>
          </p:cNvPr>
          <p:cNvSpPr txBox="1"/>
          <p:nvPr/>
        </p:nvSpPr>
        <p:spPr>
          <a:xfrm>
            <a:off x="3371850" y="3578268"/>
            <a:ext cx="6651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Deep leaning (param. Layer, Neuron, Epoch, Validation split…)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045224-F930-DA08-8451-6EE4B3E5FE66}"/>
              </a:ext>
            </a:extLst>
          </p:cNvPr>
          <p:cNvSpPr txBox="1"/>
          <p:nvPr/>
        </p:nvSpPr>
        <p:spPr>
          <a:xfrm>
            <a:off x="3371850" y="4403670"/>
            <a:ext cx="4818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Train Loss &amp; Accuracy, Test Loss &amp; Accuracy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032861-6FE7-5B93-10EC-8EC05F0FB4C7}"/>
              </a:ext>
            </a:extLst>
          </p:cNvPr>
          <p:cNvSpPr txBox="1"/>
          <p:nvPr/>
        </p:nvSpPr>
        <p:spPr>
          <a:xfrm>
            <a:off x="3371850" y="5194881"/>
            <a:ext cx="616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Compare the two resulting values, and use the corrected</a:t>
            </a:r>
            <a:endParaRPr lang="ko-KR" altLang="en-US" dirty="0"/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04F5EAB2-E301-024D-44E4-AC82A0A2CD33}"/>
              </a:ext>
            </a:extLst>
          </p:cNvPr>
          <p:cNvCxnSpPr>
            <a:cxnSpLocks/>
            <a:stCxn id="35" idx="3"/>
            <a:endCxn id="23" idx="3"/>
          </p:cNvCxnSpPr>
          <p:nvPr/>
        </p:nvCxnSpPr>
        <p:spPr>
          <a:xfrm flipV="1">
            <a:off x="2757022" y="2174731"/>
            <a:ext cx="1996" cy="3206147"/>
          </a:xfrm>
          <a:prstGeom prst="bentConnector3">
            <a:avLst>
              <a:gd name="adj1" fmla="val 1155290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144C14A-F031-B89C-6D94-756C248E7914}"/>
              </a:ext>
            </a:extLst>
          </p:cNvPr>
          <p:cNvSpPr txBox="1"/>
          <p:nvPr/>
        </p:nvSpPr>
        <p:spPr>
          <a:xfrm>
            <a:off x="3371850" y="6020283"/>
            <a:ext cx="389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Quantify based on classified results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057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8487F-42C9-7B95-6932-15DDB6881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317F6879-FDA5-6CE4-F6C7-3663874CDAB4}"/>
              </a:ext>
            </a:extLst>
          </p:cNvPr>
          <p:cNvSpPr txBox="1"/>
          <p:nvPr/>
        </p:nvSpPr>
        <p:spPr>
          <a:xfrm>
            <a:off x="360000" y="360000"/>
            <a:ext cx="2099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j-lt"/>
              </a:rPr>
              <a:t>2. Spectrum Data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B951F73-52AC-3F26-9FAB-67AE865BA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83" y="1211769"/>
            <a:ext cx="10076033" cy="42375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54FB69-6F03-D1A6-108F-D2C0C9817A7D}"/>
              </a:ext>
            </a:extLst>
          </p:cNvPr>
          <p:cNvSpPr txBox="1"/>
          <p:nvPr/>
        </p:nvSpPr>
        <p:spPr>
          <a:xfrm>
            <a:off x="1057983" y="5590934"/>
            <a:ext cx="8269132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Raw data file</a:t>
            </a:r>
            <a:r>
              <a:rPr lang="ko-KR" altLang="en-US" sz="1400" dirty="0">
                <a:latin typeface="+mj-lt"/>
              </a:rPr>
              <a:t>의 </a:t>
            </a:r>
            <a:r>
              <a:rPr lang="en-US" altLang="ko-KR" sz="1400" dirty="0">
                <a:latin typeface="+mj-lt"/>
              </a:rPr>
              <a:t>data frame.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Header // 1</a:t>
            </a:r>
            <a:r>
              <a:rPr lang="ko-KR" altLang="en-US" sz="1400" dirty="0">
                <a:latin typeface="+mj-lt"/>
              </a:rPr>
              <a:t>열 </a:t>
            </a:r>
            <a:r>
              <a:rPr lang="en-US" altLang="ko-KR" sz="1400" dirty="0">
                <a:latin typeface="+mj-lt"/>
              </a:rPr>
              <a:t>: X, 2</a:t>
            </a:r>
            <a:r>
              <a:rPr lang="ko-KR" altLang="en-US" sz="1400" dirty="0">
                <a:latin typeface="+mj-lt"/>
              </a:rPr>
              <a:t>열 </a:t>
            </a:r>
            <a:r>
              <a:rPr lang="en-US" altLang="ko-KR" sz="1400" dirty="0">
                <a:latin typeface="+mj-lt"/>
              </a:rPr>
              <a:t>: Y, 3</a:t>
            </a:r>
            <a:r>
              <a:rPr lang="ko-KR" altLang="en-US" sz="1400" dirty="0">
                <a:latin typeface="+mj-lt"/>
              </a:rPr>
              <a:t>열</a:t>
            </a:r>
            <a:r>
              <a:rPr lang="en-US" altLang="ko-KR" sz="1400" dirty="0">
                <a:latin typeface="+mj-lt"/>
              </a:rPr>
              <a:t> : Wavelength,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1</a:t>
            </a:r>
            <a:r>
              <a:rPr lang="ko-KR" altLang="en-US" sz="1400" dirty="0">
                <a:latin typeface="+mj-lt"/>
              </a:rPr>
              <a:t>열 </a:t>
            </a:r>
            <a:r>
              <a:rPr lang="en-US" altLang="ko-KR" sz="1400" dirty="0">
                <a:latin typeface="+mj-lt"/>
              </a:rPr>
              <a:t>: x axis. , 2</a:t>
            </a:r>
            <a:r>
              <a:rPr lang="ko-KR" altLang="en-US" sz="1400" dirty="0">
                <a:latin typeface="+mj-lt"/>
              </a:rPr>
              <a:t>열 </a:t>
            </a:r>
            <a:r>
              <a:rPr lang="en-US" altLang="ko-KR" sz="1400" dirty="0">
                <a:latin typeface="+mj-lt"/>
              </a:rPr>
              <a:t>y axis (Mapping), 3</a:t>
            </a:r>
            <a:r>
              <a:rPr lang="ko-KR" altLang="en-US" sz="1400" dirty="0">
                <a:latin typeface="+mj-lt"/>
              </a:rPr>
              <a:t>열 이후 </a:t>
            </a:r>
            <a:r>
              <a:rPr lang="en-US" altLang="ko-KR" sz="1400" dirty="0">
                <a:latin typeface="+mj-lt"/>
              </a:rPr>
              <a:t>Intensity  </a:t>
            </a:r>
            <a:endParaRPr lang="ko-KR" alt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60344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13C51-EFDB-F9FB-E844-ED0187A14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3264711C-9D13-B5E1-0E76-4603B76C782F}"/>
              </a:ext>
            </a:extLst>
          </p:cNvPr>
          <p:cNvSpPr txBox="1"/>
          <p:nvPr/>
        </p:nvSpPr>
        <p:spPr>
          <a:xfrm>
            <a:off x="360000" y="360000"/>
            <a:ext cx="2227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j-lt"/>
              </a:rPr>
              <a:t>3. </a:t>
            </a:r>
            <a:r>
              <a:rPr lang="en-US" altLang="ko-KR" sz="1800" b="1" dirty="0">
                <a:solidFill>
                  <a:schemeClr val="tx1"/>
                </a:solidFill>
                <a:latin typeface="+mj-lt"/>
              </a:rPr>
              <a:t>Data Separation</a:t>
            </a:r>
            <a:endParaRPr lang="ko-KR" altLang="en-US" sz="1800" b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3DB354-D159-653D-7B06-9DD3E8FA7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9" y="1101026"/>
            <a:ext cx="6069391" cy="48800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85BD64-8A6E-BB3B-EB33-46E1B467DAFE}"/>
              </a:ext>
            </a:extLst>
          </p:cNvPr>
          <p:cNvSpPr txBox="1"/>
          <p:nvPr/>
        </p:nvSpPr>
        <p:spPr>
          <a:xfrm>
            <a:off x="6982533" y="968134"/>
            <a:ext cx="5009934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Raw data file</a:t>
            </a:r>
            <a:r>
              <a:rPr lang="ko-KR" altLang="en-US" sz="1400" dirty="0">
                <a:latin typeface="+mj-lt"/>
              </a:rPr>
              <a:t>의 </a:t>
            </a:r>
            <a:r>
              <a:rPr lang="en-US" altLang="ko-KR" sz="1400" dirty="0">
                <a:latin typeface="+mj-lt"/>
              </a:rPr>
              <a:t>data frame.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Header // 1</a:t>
            </a:r>
            <a:r>
              <a:rPr lang="ko-KR" altLang="en-US" sz="1400" dirty="0">
                <a:latin typeface="+mj-lt"/>
              </a:rPr>
              <a:t>열 </a:t>
            </a:r>
            <a:r>
              <a:rPr lang="en-US" altLang="ko-KR" sz="1400" dirty="0">
                <a:latin typeface="+mj-lt"/>
              </a:rPr>
              <a:t>: X, 2</a:t>
            </a:r>
            <a:r>
              <a:rPr lang="ko-KR" altLang="en-US" sz="1400" dirty="0">
                <a:latin typeface="+mj-lt"/>
              </a:rPr>
              <a:t>열 </a:t>
            </a:r>
            <a:r>
              <a:rPr lang="en-US" altLang="ko-KR" sz="1400" dirty="0">
                <a:latin typeface="+mj-lt"/>
              </a:rPr>
              <a:t>: Y, 3</a:t>
            </a:r>
            <a:r>
              <a:rPr lang="ko-KR" altLang="en-US" sz="1400" dirty="0">
                <a:latin typeface="+mj-lt"/>
              </a:rPr>
              <a:t>열</a:t>
            </a:r>
            <a:r>
              <a:rPr lang="en-US" altLang="ko-KR" sz="1400" dirty="0">
                <a:latin typeface="+mj-lt"/>
              </a:rPr>
              <a:t> : Wavelength,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1</a:t>
            </a:r>
            <a:r>
              <a:rPr lang="ko-KR" altLang="en-US" sz="1400" dirty="0">
                <a:latin typeface="+mj-lt"/>
              </a:rPr>
              <a:t>열 </a:t>
            </a:r>
            <a:r>
              <a:rPr lang="en-US" altLang="ko-KR" sz="1400" dirty="0">
                <a:latin typeface="+mj-lt"/>
              </a:rPr>
              <a:t>: x axis. , 2</a:t>
            </a:r>
            <a:r>
              <a:rPr lang="ko-KR" altLang="en-US" sz="1400" dirty="0">
                <a:latin typeface="+mj-lt"/>
              </a:rPr>
              <a:t>열 </a:t>
            </a:r>
            <a:r>
              <a:rPr lang="en-US" altLang="ko-KR" sz="1400" dirty="0">
                <a:latin typeface="+mj-lt"/>
              </a:rPr>
              <a:t>y axis (Mapping), 3</a:t>
            </a:r>
            <a:r>
              <a:rPr lang="ko-KR" altLang="en-US" sz="1400" dirty="0">
                <a:latin typeface="+mj-lt"/>
              </a:rPr>
              <a:t>열 이후 </a:t>
            </a:r>
            <a:r>
              <a:rPr lang="en-US" altLang="ko-KR" sz="1400" dirty="0">
                <a:latin typeface="+mj-lt"/>
              </a:rPr>
              <a:t>Intensity  </a:t>
            </a:r>
            <a:endParaRPr lang="ko-KR" alt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82930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15C13-5355-7679-FAAB-0AFF8EFB9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904D838B-950D-173F-F3B2-DB548687074B}"/>
              </a:ext>
            </a:extLst>
          </p:cNvPr>
          <p:cNvSpPr txBox="1"/>
          <p:nvPr/>
        </p:nvSpPr>
        <p:spPr>
          <a:xfrm>
            <a:off x="360000" y="360000"/>
            <a:ext cx="2491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j-lt"/>
              </a:rPr>
              <a:t>4. </a:t>
            </a:r>
            <a:r>
              <a:rPr lang="en-US" altLang="ko-KR" sz="1800" b="1" dirty="0">
                <a:solidFill>
                  <a:schemeClr val="tx1"/>
                </a:solidFill>
                <a:latin typeface="+mj-lt"/>
              </a:rPr>
              <a:t>Data Classification</a:t>
            </a:r>
            <a:endParaRPr lang="ko-KR" altLang="en-US" sz="1800" b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C2C9459-B695-4CE6-D475-13C252D4E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14996"/>
            <a:ext cx="7520723" cy="51525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A54A70-4DBD-8520-F2C4-F4DCA3726919}"/>
              </a:ext>
            </a:extLst>
          </p:cNvPr>
          <p:cNvSpPr txBox="1"/>
          <p:nvPr/>
        </p:nvSpPr>
        <p:spPr>
          <a:xfrm>
            <a:off x="8265233" y="1073042"/>
            <a:ext cx="3793417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j-lt"/>
              </a:rPr>
              <a:t>분류 과정에 대한 프로그램 작성</a:t>
            </a:r>
            <a:endParaRPr lang="en-US" altLang="ko-KR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4115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160CD-42A8-8830-046C-572254A15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68BC6F02-7554-C877-BB69-16EB32A0BC79}"/>
              </a:ext>
            </a:extLst>
          </p:cNvPr>
          <p:cNvSpPr txBox="1"/>
          <p:nvPr/>
        </p:nvSpPr>
        <p:spPr>
          <a:xfrm>
            <a:off x="360000" y="360000"/>
            <a:ext cx="4024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j-lt"/>
              </a:rPr>
              <a:t>5. </a:t>
            </a:r>
            <a:r>
              <a:rPr lang="en-US" altLang="ko-KR" sz="1800" b="1" dirty="0">
                <a:solidFill>
                  <a:schemeClr val="tx1"/>
                </a:solidFill>
                <a:latin typeface="+mj-lt"/>
              </a:rPr>
              <a:t>1D-CNN Training (deep leaning)</a:t>
            </a:r>
            <a:endParaRPr lang="ko-KR" altLang="en-US" sz="1800" b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D36D19-E04D-F143-A04E-73432CA96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9" y="958053"/>
            <a:ext cx="5428113" cy="46108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00676E-3F09-8252-BF4C-0F0391D7DA80}"/>
              </a:ext>
            </a:extLst>
          </p:cNvPr>
          <p:cNvSpPr txBox="1"/>
          <p:nvPr/>
        </p:nvSpPr>
        <p:spPr>
          <a:xfrm>
            <a:off x="6192135" y="3193266"/>
            <a:ext cx="5715000" cy="338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lt"/>
              </a:rPr>
              <a:t>Model Summary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lt"/>
              </a:rPr>
              <a:t>Using device : </a:t>
            </a:r>
            <a:r>
              <a:rPr lang="en-US" altLang="ko-KR" sz="1200" dirty="0" err="1">
                <a:latin typeface="+mj-lt"/>
              </a:rPr>
              <a:t>cuda</a:t>
            </a:r>
            <a:r>
              <a:rPr lang="en-US" altLang="ko-KR" sz="1200" dirty="0">
                <a:latin typeface="+mj-lt"/>
              </a:rPr>
              <a:t> </a:t>
            </a:r>
            <a:r>
              <a:rPr lang="en-US" altLang="ko-KR" sz="1200" dirty="0">
                <a:latin typeface="+mj-lt"/>
                <a:sym typeface="Wingdings" panose="05000000000000000000" pitchFamily="2" charset="2"/>
              </a:rPr>
              <a:t> GPU </a:t>
            </a:r>
            <a:r>
              <a:rPr lang="ko-KR" altLang="en-US" sz="1200" dirty="0">
                <a:latin typeface="+mj-lt"/>
                <a:sym typeface="Wingdings" panose="05000000000000000000" pitchFamily="2" charset="2"/>
              </a:rPr>
              <a:t>사용</a:t>
            </a:r>
            <a:endParaRPr lang="en-US" altLang="ko-KR" sz="1200" dirty="0">
              <a:latin typeface="+mj-lt"/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j-lt"/>
              </a:rPr>
              <a:t>레이어 구성</a:t>
            </a:r>
            <a:endParaRPr lang="en-US" altLang="ko-KR" sz="1200" dirty="0">
              <a:latin typeface="+mj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lt"/>
              </a:rPr>
              <a:t>Input size : 1336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j-lt"/>
              </a:rPr>
              <a:t>레이어별 분석</a:t>
            </a:r>
            <a:endParaRPr lang="en-US" altLang="ko-KR" sz="1200" dirty="0">
              <a:latin typeface="+mj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lt"/>
              </a:rPr>
              <a:t>Linear-1 : Fully connected layer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lt"/>
              </a:rPr>
              <a:t>1336 </a:t>
            </a:r>
            <a:r>
              <a:rPr lang="ko-KR" altLang="en-US" sz="1200" dirty="0">
                <a:latin typeface="+mj-lt"/>
              </a:rPr>
              <a:t>에서 </a:t>
            </a:r>
            <a:r>
              <a:rPr lang="en-US" altLang="ko-KR" sz="1200" dirty="0">
                <a:latin typeface="+mj-lt"/>
              </a:rPr>
              <a:t>128</a:t>
            </a:r>
            <a:r>
              <a:rPr lang="ko-KR" altLang="en-US" sz="1200" dirty="0">
                <a:latin typeface="+mj-lt"/>
              </a:rPr>
              <a:t>로</a:t>
            </a:r>
            <a:r>
              <a:rPr lang="en-US" altLang="ko-KR" sz="1200" dirty="0">
                <a:latin typeface="+mj-lt"/>
              </a:rPr>
              <a:t> </a:t>
            </a:r>
            <a:r>
              <a:rPr lang="ko-KR" altLang="en-US" sz="1200" dirty="0">
                <a:latin typeface="+mj-lt"/>
              </a:rPr>
              <a:t>변환</a:t>
            </a:r>
            <a:endParaRPr lang="en-US" altLang="ko-KR" sz="1200" dirty="0">
              <a:latin typeface="+mj-lt"/>
            </a:endParaRPr>
          </a:p>
          <a:p>
            <a:pPr marL="10858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lt"/>
              </a:rPr>
              <a:t>Param. 1336 x 128 +128 = 171136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lt"/>
              </a:rPr>
              <a:t>ReLu-2</a:t>
            </a:r>
            <a:r>
              <a:rPr lang="ko-KR" altLang="en-US" sz="1200" dirty="0">
                <a:latin typeface="+mj-lt"/>
              </a:rPr>
              <a:t> </a:t>
            </a:r>
            <a:r>
              <a:rPr lang="en-US" altLang="ko-KR" sz="1200" dirty="0">
                <a:latin typeface="+mj-lt"/>
              </a:rPr>
              <a:t>:</a:t>
            </a:r>
            <a:r>
              <a:rPr lang="ko-KR" altLang="en-US" sz="1200" dirty="0">
                <a:latin typeface="+mj-lt"/>
              </a:rPr>
              <a:t> </a:t>
            </a:r>
            <a:r>
              <a:rPr lang="ko-KR" altLang="en-US" sz="1200" dirty="0" err="1">
                <a:latin typeface="+mj-lt"/>
              </a:rPr>
              <a:t>출력값에</a:t>
            </a:r>
            <a:r>
              <a:rPr lang="ko-KR" altLang="en-US" sz="1200" dirty="0">
                <a:latin typeface="+mj-lt"/>
              </a:rPr>
              <a:t> 비선형성 추가</a:t>
            </a:r>
            <a:endParaRPr lang="en-US" altLang="ko-KR" sz="1200" dirty="0">
              <a:latin typeface="+mj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lt"/>
              </a:rPr>
              <a:t>Dropout : overfitting </a:t>
            </a:r>
            <a:r>
              <a:rPr lang="ko-KR" altLang="en-US" sz="1200" dirty="0">
                <a:latin typeface="+mj-lt"/>
              </a:rPr>
              <a:t>방지</a:t>
            </a:r>
            <a:endParaRPr lang="en-US" altLang="ko-KR" sz="1200" dirty="0">
              <a:latin typeface="+mj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lt"/>
              </a:rPr>
              <a:t>…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lt"/>
              </a:rPr>
              <a:t>Sigmoiud-11 : Normalize </a:t>
            </a:r>
            <a:r>
              <a:rPr lang="ko-KR" altLang="en-US" sz="1200" dirty="0">
                <a:latin typeface="+mj-lt"/>
              </a:rPr>
              <a:t>함수 </a:t>
            </a:r>
            <a:r>
              <a:rPr lang="en-US" altLang="ko-KR" sz="1200" dirty="0">
                <a:latin typeface="+mj-lt"/>
              </a:rPr>
              <a:t>(</a:t>
            </a:r>
            <a:r>
              <a:rPr lang="ko-KR" altLang="en-US" sz="1200" dirty="0">
                <a:latin typeface="+mj-lt"/>
              </a:rPr>
              <a:t>이진 분류 목적 설계</a:t>
            </a:r>
            <a:r>
              <a:rPr lang="en-US" altLang="ko-KR" sz="1200" dirty="0">
                <a:latin typeface="+mj-lt"/>
              </a:rPr>
              <a:t>)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18E08F4-3BCD-A13D-102E-F08FF4D0E89A}"/>
              </a:ext>
            </a:extLst>
          </p:cNvPr>
          <p:cNvGrpSpPr/>
          <p:nvPr/>
        </p:nvGrpSpPr>
        <p:grpSpPr>
          <a:xfrm>
            <a:off x="6287018" y="133045"/>
            <a:ext cx="4788054" cy="3008147"/>
            <a:chOff x="5505968" y="190918"/>
            <a:chExt cx="4788054" cy="3008147"/>
          </a:xfrm>
        </p:grpSpPr>
        <p:pic>
          <p:nvPicPr>
            <p:cNvPr id="1026" name="Picture 2" descr="The 1-D convolutional neural network architecture used to model the... |  Download Scientific Diagram">
              <a:extLst>
                <a:ext uri="{FF2B5EF4-FFF2-40B4-BE49-F238E27FC236}">
                  <a16:creationId xmlns:a16="http://schemas.microsoft.com/office/drawing/2014/main" id="{DBF45145-B614-EA9C-428A-05AD83FED7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9173" y="692097"/>
              <a:ext cx="4154656" cy="2150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D5624E8-776D-9BF0-397D-5D345A507571}"/>
                </a:ext>
              </a:extLst>
            </p:cNvPr>
            <p:cNvSpPr txBox="1"/>
            <p:nvPr/>
          </p:nvSpPr>
          <p:spPr>
            <a:xfrm>
              <a:off x="5755759" y="246216"/>
              <a:ext cx="15392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Input size : 1336</a:t>
              </a:r>
              <a:endParaRPr lang="ko-KR" altLang="en-US" sz="1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F7A3F1-CFBA-C2E5-1D3A-EFBF1FAE3615}"/>
                </a:ext>
              </a:extLst>
            </p:cNvPr>
            <p:cNvSpPr txBox="1"/>
            <p:nvPr/>
          </p:nvSpPr>
          <p:spPr>
            <a:xfrm>
              <a:off x="7711264" y="538208"/>
              <a:ext cx="25827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1336 </a:t>
              </a:r>
              <a:r>
                <a:rPr lang="en-US" altLang="ko-KR" sz="1400" dirty="0">
                  <a:sym typeface="Wingdings" panose="05000000000000000000" pitchFamily="2" charset="2"/>
                </a:rPr>
                <a:t> 128  64  32  1</a:t>
              </a:r>
              <a:endParaRPr lang="ko-KR" altLang="en-US" sz="1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008BF1B-7F80-B0EC-8ECC-A28E6CDFB97E}"/>
                </a:ext>
              </a:extLst>
            </p:cNvPr>
            <p:cNvSpPr txBox="1"/>
            <p:nvPr/>
          </p:nvSpPr>
          <p:spPr>
            <a:xfrm>
              <a:off x="8268585" y="198011"/>
              <a:ext cx="7110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Layer1</a:t>
              </a:r>
              <a:endParaRPr lang="ko-KR" altLang="en-US" sz="14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8F7F81-24CA-620C-1030-89DF8F3BA8C4}"/>
                </a:ext>
              </a:extLst>
            </p:cNvPr>
            <p:cNvSpPr txBox="1"/>
            <p:nvPr/>
          </p:nvSpPr>
          <p:spPr>
            <a:xfrm>
              <a:off x="9066251" y="19801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E91E096-8B40-52E7-9EBD-613E073DC3F2}"/>
                </a:ext>
              </a:extLst>
            </p:cNvPr>
            <p:cNvSpPr txBox="1"/>
            <p:nvPr/>
          </p:nvSpPr>
          <p:spPr>
            <a:xfrm>
              <a:off x="9523451" y="1909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50E9BBE-A8E3-150B-8BF9-21AAD68B2ACD}"/>
                </a:ext>
              </a:extLst>
            </p:cNvPr>
            <p:cNvSpPr txBox="1"/>
            <p:nvPr/>
          </p:nvSpPr>
          <p:spPr>
            <a:xfrm>
              <a:off x="9980651" y="19801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FFFB1F6-66FE-DF1D-F808-DDD36D1E2D5C}"/>
                </a:ext>
              </a:extLst>
            </p:cNvPr>
            <p:cNvSpPr txBox="1"/>
            <p:nvPr/>
          </p:nvSpPr>
          <p:spPr>
            <a:xfrm>
              <a:off x="9509985" y="2891288"/>
              <a:ext cx="5950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[0, 1]</a:t>
              </a:r>
              <a:endParaRPr lang="ko-KR" altLang="en-US" sz="1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90491D5-67E5-3165-05C5-EAD41206F3B3}"/>
                </a:ext>
              </a:extLst>
            </p:cNvPr>
            <p:cNvSpPr txBox="1"/>
            <p:nvPr/>
          </p:nvSpPr>
          <p:spPr>
            <a:xfrm>
              <a:off x="5505968" y="2891288"/>
              <a:ext cx="21836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Data ex) [0, 0.1, -0.1 …. ]</a:t>
              </a:r>
              <a:endParaRPr lang="ko-KR" altLang="en-US" sz="1400" dirty="0"/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16747538-A1DF-AECC-9129-89359BC7DBC8}"/>
                </a:ext>
              </a:extLst>
            </p:cNvPr>
            <p:cNvCxnSpPr>
              <a:stCxn id="15" idx="3"/>
              <a:endCxn id="14" idx="1"/>
            </p:cNvCxnSpPr>
            <p:nvPr/>
          </p:nvCxnSpPr>
          <p:spPr>
            <a:xfrm>
              <a:off x="7689579" y="3045177"/>
              <a:ext cx="18204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AA02B2AF-0722-6288-A288-56CFA5DAF49D}"/>
              </a:ext>
            </a:extLst>
          </p:cNvPr>
          <p:cNvSpPr txBox="1"/>
          <p:nvPr/>
        </p:nvSpPr>
        <p:spPr>
          <a:xfrm>
            <a:off x="340025" y="5746058"/>
            <a:ext cx="20201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>
                <a:solidFill>
                  <a:srgbClr val="FF0000"/>
                </a:solidFill>
              </a:rPr>
              <a:t>Model </a:t>
            </a:r>
            <a:r>
              <a:rPr lang="ko-KR" altLang="en-US" sz="1400" b="1" dirty="0">
                <a:solidFill>
                  <a:srgbClr val="FF0000"/>
                </a:solidFill>
              </a:rPr>
              <a:t>최적화 중</a:t>
            </a:r>
            <a:r>
              <a:rPr lang="en-US" altLang="ko-KR" sz="1400" b="1" dirty="0">
                <a:solidFill>
                  <a:srgbClr val="FF0000"/>
                </a:solidFill>
              </a:rPr>
              <a:t>…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991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50863-91D8-5601-5825-8D40075C5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CC164A42-E0EF-DCEB-8FDA-35EA10E94884}"/>
              </a:ext>
            </a:extLst>
          </p:cNvPr>
          <p:cNvSpPr txBox="1"/>
          <p:nvPr/>
        </p:nvSpPr>
        <p:spPr>
          <a:xfrm>
            <a:off x="360000" y="360000"/>
            <a:ext cx="4024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j-lt"/>
              </a:rPr>
              <a:t>5. </a:t>
            </a:r>
            <a:r>
              <a:rPr lang="en-US" altLang="ko-KR" sz="1800" b="1" dirty="0">
                <a:solidFill>
                  <a:schemeClr val="tx1"/>
                </a:solidFill>
                <a:latin typeface="+mj-lt"/>
              </a:rPr>
              <a:t>1D-CNN Training (deep leaning)</a:t>
            </a:r>
            <a:endParaRPr lang="ko-KR" altLang="en-US" sz="1800" b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3" name="그림 2" descr="텍스트, 스크린샷, 소프트웨어, 도표이(가) 표시된 사진&#10;&#10;자동 생성된 설명">
            <a:extLst>
              <a:ext uri="{FF2B5EF4-FFF2-40B4-BE49-F238E27FC236}">
                <a16:creationId xmlns:a16="http://schemas.microsoft.com/office/drawing/2014/main" id="{2F7717A1-CAE4-F6E7-C3A3-21BB83C38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41" y="1073042"/>
            <a:ext cx="7887203" cy="51525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C29405-B2B3-64F5-204D-344A07A94B62}"/>
              </a:ext>
            </a:extLst>
          </p:cNvPr>
          <p:cNvSpPr txBox="1"/>
          <p:nvPr/>
        </p:nvSpPr>
        <p:spPr>
          <a:xfrm>
            <a:off x="8265233" y="1073042"/>
            <a:ext cx="3793417" cy="1343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Training GUI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Param. </a:t>
            </a:r>
            <a:r>
              <a:rPr lang="ko-KR" altLang="en-US" sz="1400" dirty="0">
                <a:latin typeface="+mj-lt"/>
              </a:rPr>
              <a:t>설정에 따라 다르지만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사용하는 컴퓨터에서 대략 </a:t>
            </a:r>
            <a:r>
              <a:rPr lang="en-US" altLang="ko-KR" sz="1400" dirty="0">
                <a:latin typeface="+mj-lt"/>
              </a:rPr>
              <a:t>30</a:t>
            </a:r>
            <a:r>
              <a:rPr lang="ko-KR" altLang="en-US" sz="1400" dirty="0">
                <a:latin typeface="+mj-lt"/>
              </a:rPr>
              <a:t>분 정도 소요됨</a:t>
            </a:r>
            <a:r>
              <a:rPr lang="en-US" altLang="ko-KR" sz="1400" dirty="0">
                <a:latin typeface="+mj-lt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+mj-lt"/>
              </a:rPr>
              <a:t>Pytorch</a:t>
            </a:r>
            <a:r>
              <a:rPr lang="en-US" altLang="ko-KR" sz="1400" dirty="0">
                <a:latin typeface="+mj-lt"/>
              </a:rPr>
              <a:t> </a:t>
            </a:r>
            <a:r>
              <a:rPr lang="ko-KR" altLang="en-US" sz="1400" dirty="0">
                <a:latin typeface="+mj-lt"/>
              </a:rPr>
              <a:t>사용</a:t>
            </a:r>
            <a:endParaRPr lang="en-US" altLang="ko-KR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24776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B7BFF-CDEF-D2B9-7E02-7ECACC5AF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CD3886BF-8E05-7DD2-78CE-E0339D9638C2}"/>
              </a:ext>
            </a:extLst>
          </p:cNvPr>
          <p:cNvSpPr txBox="1"/>
          <p:nvPr/>
        </p:nvSpPr>
        <p:spPr>
          <a:xfrm>
            <a:off x="360000" y="360000"/>
            <a:ext cx="3073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j-lt"/>
              </a:rPr>
              <a:t>6. </a:t>
            </a:r>
            <a:r>
              <a:rPr lang="en-US" altLang="ko-KR" sz="1800" b="1" dirty="0">
                <a:solidFill>
                  <a:schemeClr val="tx1"/>
                </a:solidFill>
                <a:latin typeface="+mj-lt"/>
              </a:rPr>
              <a:t>Prediction (with model)</a:t>
            </a:r>
            <a:endParaRPr lang="ko-KR" altLang="en-US" sz="1800" b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5BDE0CA-150F-C8C9-699D-81563989D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41" y="1136277"/>
            <a:ext cx="7516432" cy="51525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1E90D3-3D0F-35D0-AD2F-289B4DF31E0C}"/>
              </a:ext>
            </a:extLst>
          </p:cNvPr>
          <p:cNvSpPr txBox="1"/>
          <p:nvPr/>
        </p:nvSpPr>
        <p:spPr>
          <a:xfrm>
            <a:off x="8023933" y="1157542"/>
            <a:ext cx="3793417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Training </a:t>
            </a:r>
            <a:r>
              <a:rPr lang="ko-KR" altLang="en-US" sz="1400" dirty="0">
                <a:latin typeface="+mj-lt"/>
              </a:rPr>
              <a:t>된 모델을 결과로 </a:t>
            </a:r>
            <a:r>
              <a:rPr lang="en-US" altLang="ko-KR" sz="1400" dirty="0">
                <a:latin typeface="+mj-lt"/>
              </a:rPr>
              <a:t>Peak </a:t>
            </a:r>
            <a:r>
              <a:rPr lang="ko-KR" altLang="en-US" sz="1400" dirty="0">
                <a:latin typeface="+mj-lt"/>
              </a:rPr>
              <a:t>유무 예측</a:t>
            </a:r>
            <a:endParaRPr lang="en-US" altLang="ko-KR" sz="1400" dirty="0">
              <a:latin typeface="+mj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Best</a:t>
            </a:r>
            <a:r>
              <a:rPr lang="ko-KR" altLang="en-US" sz="1400" dirty="0">
                <a:latin typeface="+mj-lt"/>
              </a:rPr>
              <a:t> </a:t>
            </a:r>
            <a:r>
              <a:rPr lang="en-US" altLang="ko-KR" sz="1400" dirty="0">
                <a:latin typeface="+mj-lt"/>
              </a:rPr>
              <a:t>accuracy, Total count, positive negative count …</a:t>
            </a:r>
          </a:p>
        </p:txBody>
      </p:sp>
    </p:spTree>
    <p:extLst>
      <p:ext uri="{BB962C8B-B14F-4D97-AF65-F5344CB8AC3E}">
        <p14:creationId xmlns:p14="http://schemas.microsoft.com/office/powerpoint/2010/main" val="3723214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62CD1-C6A7-A824-EE11-CEFDF9E4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1BFCB726-598D-CCED-52F4-E0DC6FF71B28}"/>
              </a:ext>
            </a:extLst>
          </p:cNvPr>
          <p:cNvSpPr txBox="1"/>
          <p:nvPr/>
        </p:nvSpPr>
        <p:spPr>
          <a:xfrm>
            <a:off x="360000" y="360000"/>
            <a:ext cx="4027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j-lt"/>
              </a:rPr>
              <a:t>7. Comparison with AI and Worker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78B319-7436-BEC9-A1A9-3965A7710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97" y="1157542"/>
            <a:ext cx="7516432" cy="51525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33EBDB-9D3B-4621-6563-E560CEF2642C}"/>
              </a:ext>
            </a:extLst>
          </p:cNvPr>
          <p:cNvSpPr txBox="1"/>
          <p:nvPr/>
        </p:nvSpPr>
        <p:spPr>
          <a:xfrm>
            <a:off x="8023933" y="1157542"/>
            <a:ext cx="3113967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j-lt"/>
              </a:rPr>
              <a:t>사람이 분류한 작업 결과</a:t>
            </a:r>
            <a:endParaRPr lang="en-US" altLang="ko-KR" sz="1400" dirty="0">
              <a:latin typeface="+mj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1D CNN </a:t>
            </a:r>
            <a:r>
              <a:rPr lang="ko-KR" altLang="en-US" sz="1400" dirty="0">
                <a:latin typeface="+mj-lt"/>
              </a:rPr>
              <a:t>예측 결과</a:t>
            </a:r>
            <a:endParaRPr lang="en-US" altLang="ko-KR" sz="1400" dirty="0">
              <a:latin typeface="+mj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j-lt"/>
              </a:rPr>
              <a:t>두 결과 값 비교하여 </a:t>
            </a:r>
            <a:r>
              <a:rPr lang="en-US" altLang="ko-KR" sz="1400" dirty="0">
                <a:latin typeface="+mj-lt"/>
              </a:rPr>
              <a:t>Report </a:t>
            </a:r>
            <a:r>
              <a:rPr lang="ko-KR" altLang="en-US" sz="1400" dirty="0">
                <a:latin typeface="+mj-lt"/>
              </a:rPr>
              <a:t>작성</a:t>
            </a:r>
            <a:endParaRPr lang="en-US" altLang="ko-KR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2111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29137-0080-3AFE-5E0E-602266AD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89D5CDBB-6D90-6587-3511-36671AF77007}"/>
              </a:ext>
            </a:extLst>
          </p:cNvPr>
          <p:cNvSpPr txBox="1"/>
          <p:nvPr/>
        </p:nvSpPr>
        <p:spPr>
          <a:xfrm>
            <a:off x="360000" y="360000"/>
            <a:ext cx="368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j-lt"/>
              </a:rPr>
              <a:t>8. Interpolation and integration</a:t>
            </a:r>
          </a:p>
        </p:txBody>
      </p:sp>
      <p:pic>
        <p:nvPicPr>
          <p:cNvPr id="3" name="그림 2" descr="텍스트, 도표, 그래프, 라인이(가) 표시된 사진&#10;&#10;자동 생성된 설명">
            <a:extLst>
              <a:ext uri="{FF2B5EF4-FFF2-40B4-BE49-F238E27FC236}">
                <a16:creationId xmlns:a16="http://schemas.microsoft.com/office/drawing/2014/main" id="{653C007A-62CF-4854-ECCC-0B58F8C1A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912954"/>
            <a:ext cx="7084711" cy="56677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8B3D1B4-3E53-929C-54C1-FAF6270FE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4983" y="912954"/>
            <a:ext cx="2235467" cy="151535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plt.title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(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'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Linear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 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Interpolation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'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)</a:t>
            </a:r>
            <a:b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</a:b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plt.title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(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'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Polynomial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 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Interpolation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'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)</a:t>
            </a:r>
            <a:b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</a:b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plt.title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(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'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Gaussian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 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Fitting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'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)</a:t>
            </a:r>
            <a:b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</a:b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plt.title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(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'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Savitzky-Golay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 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Filter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'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)</a:t>
            </a:r>
            <a:b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</a:b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plt.title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(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'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Fourier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 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Transform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'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)</a:t>
            </a:r>
            <a:b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</a:b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plt.title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(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'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Moving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 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Average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+mj-lt"/>
                <a:ea typeface="JetBrains Mono"/>
              </a:rPr>
              <a:t>'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+mj-lt"/>
                <a:ea typeface="JetBrains Mono"/>
              </a:rPr>
              <a:t>)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27" name="Picture 3" descr="undefined">
            <a:extLst>
              <a:ext uri="{FF2B5EF4-FFF2-40B4-BE49-F238E27FC236}">
                <a16:creationId xmlns:a16="http://schemas.microsoft.com/office/drawing/2014/main" id="{3381EDE6-9EEC-8047-FA7B-63B0AA5FE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1658" y="3746838"/>
            <a:ext cx="4435706" cy="236571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D3BBAD-C042-3430-76A5-83303F6A766C}"/>
              </a:ext>
            </a:extLst>
          </p:cNvPr>
          <p:cNvSpPr txBox="1"/>
          <p:nvPr/>
        </p:nvSpPr>
        <p:spPr>
          <a:xfrm>
            <a:off x="7534983" y="6206837"/>
            <a:ext cx="3113967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Param. : Length, polynomial order</a:t>
            </a:r>
            <a:endParaRPr lang="ko-KR" altLang="en-US" sz="14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72B88D-5ACF-30D9-0A67-068F369E4FA8}"/>
              </a:ext>
            </a:extLst>
          </p:cNvPr>
          <p:cNvSpPr txBox="1"/>
          <p:nvPr/>
        </p:nvSpPr>
        <p:spPr>
          <a:xfrm>
            <a:off x="7534983" y="2522594"/>
            <a:ext cx="3113967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j-lt"/>
              </a:rPr>
              <a:t>아직 프로그램 상 구현은 안됨</a:t>
            </a:r>
            <a:r>
              <a:rPr lang="en-US" altLang="ko-KR" sz="1400" dirty="0">
                <a:latin typeface="+mj-lt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j-lt"/>
              </a:rPr>
              <a:t>여러 옵션을 적용해 볼 예정</a:t>
            </a:r>
          </a:p>
        </p:txBody>
      </p:sp>
    </p:spTree>
    <p:extLst>
      <p:ext uri="{BB962C8B-B14F-4D97-AF65-F5344CB8AC3E}">
        <p14:creationId xmlns:p14="http://schemas.microsoft.com/office/powerpoint/2010/main" val="2102729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C5E04E-222E-6B03-F5DF-C341F97356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/>
              <a:t>Raman spectrum</a:t>
            </a:r>
            <a:br>
              <a:rPr lang="en-US" altLang="ko-KR" sz="4800" dirty="0"/>
            </a:br>
            <a:r>
              <a:rPr lang="en-US" altLang="ko-KR" sz="4800" dirty="0"/>
              <a:t>Model update &amp; Interpolation</a:t>
            </a:r>
            <a:endParaRPr lang="ko-KR" altLang="en-US" sz="4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D0FE29-BCF2-E419-D433-B2873CC021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2025. 02. 03</a:t>
            </a:r>
          </a:p>
          <a:p>
            <a:r>
              <a:rPr lang="en-US" altLang="ko-KR" dirty="0"/>
              <a:t>Lee Jeong-su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6236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0A94-E85F-953A-F6A8-31601E8D8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E3A30BA7-057A-C919-00C8-97414CA9C7CE}"/>
              </a:ext>
            </a:extLst>
          </p:cNvPr>
          <p:cNvSpPr txBox="1"/>
          <p:nvPr/>
        </p:nvSpPr>
        <p:spPr>
          <a:xfrm>
            <a:off x="360000" y="360000"/>
            <a:ext cx="2011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j-lt"/>
              </a:rPr>
              <a:t>1. Model update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A9526F5-229B-A7FE-C9B5-793780C68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60858"/>
              </p:ext>
            </p:extLst>
          </p:nvPr>
        </p:nvGraphicFramePr>
        <p:xfrm>
          <a:off x="360001" y="877088"/>
          <a:ext cx="5513751" cy="2386811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024758">
                  <a:extLst>
                    <a:ext uri="{9D8B030D-6E8A-4147-A177-3AD203B41FA5}">
                      <a16:colId xmlns:a16="http://schemas.microsoft.com/office/drawing/2014/main" val="2169528462"/>
                    </a:ext>
                  </a:extLst>
                </a:gridCol>
                <a:gridCol w="578692">
                  <a:extLst>
                    <a:ext uri="{9D8B030D-6E8A-4147-A177-3AD203B41FA5}">
                      <a16:colId xmlns:a16="http://schemas.microsoft.com/office/drawing/2014/main" val="2547064880"/>
                    </a:ext>
                  </a:extLst>
                </a:gridCol>
                <a:gridCol w="578692">
                  <a:extLst>
                    <a:ext uri="{9D8B030D-6E8A-4147-A177-3AD203B41FA5}">
                      <a16:colId xmlns:a16="http://schemas.microsoft.com/office/drawing/2014/main" val="3392912708"/>
                    </a:ext>
                  </a:extLst>
                </a:gridCol>
                <a:gridCol w="578692">
                  <a:extLst>
                    <a:ext uri="{9D8B030D-6E8A-4147-A177-3AD203B41FA5}">
                      <a16:colId xmlns:a16="http://schemas.microsoft.com/office/drawing/2014/main" val="1085680496"/>
                    </a:ext>
                  </a:extLst>
                </a:gridCol>
                <a:gridCol w="578692">
                  <a:extLst>
                    <a:ext uri="{9D8B030D-6E8A-4147-A177-3AD203B41FA5}">
                      <a16:colId xmlns:a16="http://schemas.microsoft.com/office/drawing/2014/main" val="3717708971"/>
                    </a:ext>
                  </a:extLst>
                </a:gridCol>
                <a:gridCol w="578692">
                  <a:extLst>
                    <a:ext uri="{9D8B030D-6E8A-4147-A177-3AD203B41FA5}">
                      <a16:colId xmlns:a16="http://schemas.microsoft.com/office/drawing/2014/main" val="994619528"/>
                    </a:ext>
                  </a:extLst>
                </a:gridCol>
                <a:gridCol w="578692">
                  <a:extLst>
                    <a:ext uri="{9D8B030D-6E8A-4147-A177-3AD203B41FA5}">
                      <a16:colId xmlns:a16="http://schemas.microsoft.com/office/drawing/2014/main" val="1560392973"/>
                    </a:ext>
                  </a:extLst>
                </a:gridCol>
                <a:gridCol w="578692">
                  <a:extLst>
                    <a:ext uri="{9D8B030D-6E8A-4147-A177-3AD203B41FA5}">
                      <a16:colId xmlns:a16="http://schemas.microsoft.com/office/drawing/2014/main" val="2320854592"/>
                    </a:ext>
                  </a:extLst>
                </a:gridCol>
                <a:gridCol w="438149">
                  <a:extLst>
                    <a:ext uri="{9D8B030D-6E8A-4147-A177-3AD203B41FA5}">
                      <a16:colId xmlns:a16="http://schemas.microsoft.com/office/drawing/2014/main" val="2108386102"/>
                    </a:ext>
                  </a:extLst>
                </a:gridCol>
              </a:tblGrid>
              <a:tr h="317417"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M4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50292" marB="50292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579195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small ng </a:t>
                      </a:r>
                    </a:p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samp 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small ng </a:t>
                      </a:r>
                    </a:p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samp 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small ng </a:t>
                      </a:r>
                    </a:p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samp 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small ng </a:t>
                      </a:r>
                    </a:p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samp 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small ng </a:t>
                      </a:r>
                    </a:p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samp 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small ng </a:t>
                      </a:r>
                    </a:p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samp 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small ng </a:t>
                      </a:r>
                    </a:p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samp 10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j-lt"/>
                        </a:rPr>
                        <a:t>Sum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extLst>
                  <a:ext uri="{0D108BD9-81ED-4DB2-BD59-A6C34878D82A}">
                    <a16:rowId xmlns:a16="http://schemas.microsoft.com/office/drawing/2014/main" val="872999995"/>
                  </a:ext>
                </a:extLst>
              </a:tr>
              <a:tr h="2381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  <a:latin typeface="+mj-lt"/>
                        </a:rPr>
                        <a:t>Matching_count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390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379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385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396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379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373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388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2690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extLst>
                  <a:ext uri="{0D108BD9-81ED-4DB2-BD59-A6C34878D82A}">
                    <a16:rowId xmlns:a16="http://schemas.microsoft.com/office/drawing/2014/main" val="1516559924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  <a:latin typeface="+mj-lt"/>
                        </a:rPr>
                        <a:t>Non_matching_conut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10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21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15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4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21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27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12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110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extLst>
                  <a:ext uri="{0D108BD9-81ED-4DB2-BD59-A6C34878D82A}">
                    <a16:rowId xmlns:a16="http://schemas.microsoft.com/office/drawing/2014/main" val="1858117717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  <a:latin typeface="+mj-lt"/>
                        </a:rPr>
                        <a:t>Non_matching_peak_1_count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10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21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15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20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24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12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105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extLst>
                  <a:ext uri="{0D108BD9-81ED-4DB2-BD59-A6C34878D82A}">
                    <a16:rowId xmlns:a16="http://schemas.microsoft.com/office/drawing/2014/main" val="3469335757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  <a:latin typeface="+mj-lt"/>
                        </a:rPr>
                        <a:t>Non_matching_peak_0_count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extLst>
                  <a:ext uri="{0D108BD9-81ED-4DB2-BD59-A6C34878D82A}">
                    <a16:rowId xmlns:a16="http://schemas.microsoft.com/office/drawing/2014/main" val="2738470574"/>
                  </a:ext>
                </a:extLst>
              </a:tr>
              <a:tr h="2381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  <a:latin typeface="+mj-lt"/>
                        </a:rPr>
                        <a:t>Total_count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400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400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400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400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400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400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400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2800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extLst>
                  <a:ext uri="{0D108BD9-81ED-4DB2-BD59-A6C34878D82A}">
                    <a16:rowId xmlns:a16="http://schemas.microsoft.com/office/drawing/2014/main" val="3660675198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Matching rate</a:t>
                      </a:r>
                      <a:endParaRPr lang="en-US" sz="900" b="1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97.50%</a:t>
                      </a:r>
                      <a:endParaRPr lang="en-US" altLang="ko-KR" sz="900" b="1" i="0" u="none" strike="noStrike">
                        <a:solidFill>
                          <a:srgbClr val="0070C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94.75%</a:t>
                      </a:r>
                      <a:endParaRPr lang="en-US" altLang="ko-KR" sz="900" b="1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96.25%</a:t>
                      </a:r>
                      <a:endParaRPr lang="en-US" altLang="ko-KR" sz="900" b="1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99.00%</a:t>
                      </a:r>
                      <a:endParaRPr lang="en-US" altLang="ko-KR" sz="900" b="1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94.75%</a:t>
                      </a:r>
                      <a:endParaRPr lang="en-US" altLang="ko-KR" sz="900" b="1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93.25%</a:t>
                      </a:r>
                      <a:endParaRPr lang="en-US" altLang="ko-KR" sz="900" b="1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97.00%</a:t>
                      </a:r>
                      <a:endParaRPr lang="en-US" altLang="ko-KR" sz="900" b="1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96.07%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extLst>
                  <a:ext uri="{0D108BD9-81ED-4DB2-BD59-A6C34878D82A}">
                    <a16:rowId xmlns:a16="http://schemas.microsoft.com/office/drawing/2014/main" val="371791063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C6A14D0-922F-1335-DC23-03DA7B3FC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089635"/>
              </p:ext>
            </p:extLst>
          </p:nvPr>
        </p:nvGraphicFramePr>
        <p:xfrm>
          <a:off x="6280152" y="877088"/>
          <a:ext cx="5513747" cy="2386811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024758">
                  <a:extLst>
                    <a:ext uri="{9D8B030D-6E8A-4147-A177-3AD203B41FA5}">
                      <a16:colId xmlns:a16="http://schemas.microsoft.com/office/drawing/2014/main" val="981642921"/>
                    </a:ext>
                  </a:extLst>
                </a:gridCol>
                <a:gridCol w="573877">
                  <a:extLst>
                    <a:ext uri="{9D8B030D-6E8A-4147-A177-3AD203B41FA5}">
                      <a16:colId xmlns:a16="http://schemas.microsoft.com/office/drawing/2014/main" val="962317675"/>
                    </a:ext>
                  </a:extLst>
                </a:gridCol>
                <a:gridCol w="573877">
                  <a:extLst>
                    <a:ext uri="{9D8B030D-6E8A-4147-A177-3AD203B41FA5}">
                      <a16:colId xmlns:a16="http://schemas.microsoft.com/office/drawing/2014/main" val="1366544718"/>
                    </a:ext>
                  </a:extLst>
                </a:gridCol>
                <a:gridCol w="573877">
                  <a:extLst>
                    <a:ext uri="{9D8B030D-6E8A-4147-A177-3AD203B41FA5}">
                      <a16:colId xmlns:a16="http://schemas.microsoft.com/office/drawing/2014/main" val="1319957214"/>
                    </a:ext>
                  </a:extLst>
                </a:gridCol>
                <a:gridCol w="573877">
                  <a:extLst>
                    <a:ext uri="{9D8B030D-6E8A-4147-A177-3AD203B41FA5}">
                      <a16:colId xmlns:a16="http://schemas.microsoft.com/office/drawing/2014/main" val="2037530527"/>
                    </a:ext>
                  </a:extLst>
                </a:gridCol>
                <a:gridCol w="573877">
                  <a:extLst>
                    <a:ext uri="{9D8B030D-6E8A-4147-A177-3AD203B41FA5}">
                      <a16:colId xmlns:a16="http://schemas.microsoft.com/office/drawing/2014/main" val="2326494659"/>
                    </a:ext>
                  </a:extLst>
                </a:gridCol>
                <a:gridCol w="573877">
                  <a:extLst>
                    <a:ext uri="{9D8B030D-6E8A-4147-A177-3AD203B41FA5}">
                      <a16:colId xmlns:a16="http://schemas.microsoft.com/office/drawing/2014/main" val="3770439941"/>
                    </a:ext>
                  </a:extLst>
                </a:gridCol>
                <a:gridCol w="573877">
                  <a:extLst>
                    <a:ext uri="{9D8B030D-6E8A-4147-A177-3AD203B41FA5}">
                      <a16:colId xmlns:a16="http://schemas.microsoft.com/office/drawing/2014/main" val="2795006784"/>
                    </a:ext>
                  </a:extLst>
                </a:gridCol>
                <a:gridCol w="471850">
                  <a:extLst>
                    <a:ext uri="{9D8B030D-6E8A-4147-A177-3AD203B41FA5}">
                      <a16:colId xmlns:a16="http://schemas.microsoft.com/office/drawing/2014/main" val="3264666856"/>
                    </a:ext>
                  </a:extLst>
                </a:gridCol>
              </a:tblGrid>
              <a:tr h="317417"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M5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50292" marB="50292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009569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j-lt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small ng </a:t>
                      </a:r>
                    </a:p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samp 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small ng </a:t>
                      </a:r>
                    </a:p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samp 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small ng </a:t>
                      </a:r>
                    </a:p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samp 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small ng </a:t>
                      </a:r>
                    </a:p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samp 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small ng </a:t>
                      </a:r>
                    </a:p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samp 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small ng </a:t>
                      </a:r>
                    </a:p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samp 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small ng </a:t>
                      </a:r>
                    </a:p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j-lt"/>
                        </a:rPr>
                        <a:t>samp 10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  <a:latin typeface="+mj-lt"/>
                        </a:rPr>
                        <a:t>Sum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extLst>
                  <a:ext uri="{0D108BD9-81ED-4DB2-BD59-A6C34878D82A}">
                    <a16:rowId xmlns:a16="http://schemas.microsoft.com/office/drawing/2014/main" val="1364434449"/>
                  </a:ext>
                </a:extLst>
              </a:tr>
              <a:tr h="2381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  <a:latin typeface="+mj-lt"/>
                        </a:rPr>
                        <a:t>Matching_count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394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380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393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398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381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381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389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2716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extLst>
                  <a:ext uri="{0D108BD9-81ED-4DB2-BD59-A6C34878D82A}">
                    <a16:rowId xmlns:a16="http://schemas.microsoft.com/office/drawing/2014/main" val="246950243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 err="1">
                          <a:effectLst/>
                          <a:latin typeface="+mj-lt"/>
                        </a:rPr>
                        <a:t>Non_matching_conut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20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19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19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11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84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extLst>
                  <a:ext uri="{0D108BD9-81ED-4DB2-BD59-A6C34878D82A}">
                    <a16:rowId xmlns:a16="http://schemas.microsoft.com/office/drawing/2014/main" val="4294670828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  <a:latin typeface="+mj-lt"/>
                        </a:rPr>
                        <a:t>Non_matching_peak_1_count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20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19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14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11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79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extLst>
                  <a:ext uri="{0D108BD9-81ED-4DB2-BD59-A6C34878D82A}">
                    <a16:rowId xmlns:a16="http://schemas.microsoft.com/office/drawing/2014/main" val="4201856036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  <a:latin typeface="+mj-lt"/>
                        </a:rPr>
                        <a:t>Non_matching_peak_0_count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extLst>
                  <a:ext uri="{0D108BD9-81ED-4DB2-BD59-A6C34878D82A}">
                    <a16:rowId xmlns:a16="http://schemas.microsoft.com/office/drawing/2014/main" val="2051295713"/>
                  </a:ext>
                </a:extLst>
              </a:tr>
              <a:tr h="2381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  <a:latin typeface="+mj-lt"/>
                        </a:rPr>
                        <a:t>Total_count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400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400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400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400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400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+mj-lt"/>
                        </a:rPr>
                        <a:t>400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400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j-lt"/>
                        </a:rPr>
                        <a:t>2800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extLst>
                  <a:ext uri="{0D108BD9-81ED-4DB2-BD59-A6C34878D82A}">
                    <a16:rowId xmlns:a16="http://schemas.microsoft.com/office/drawing/2014/main" val="3487716315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Matching rate</a:t>
                      </a:r>
                      <a:endParaRPr lang="en-US" sz="900" b="1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98.50%</a:t>
                      </a:r>
                      <a:endParaRPr lang="en-US" altLang="ko-KR" sz="900" b="1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95.00%</a:t>
                      </a:r>
                      <a:endParaRPr lang="en-US" altLang="ko-KR" sz="900" b="1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98.25%</a:t>
                      </a:r>
                      <a:endParaRPr lang="en-US" altLang="ko-KR" sz="900" b="1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99.50%</a:t>
                      </a:r>
                      <a:endParaRPr lang="en-US" altLang="ko-KR" sz="900" b="1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95.25%</a:t>
                      </a:r>
                      <a:endParaRPr lang="en-US" altLang="ko-KR" sz="900" b="1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95.25%</a:t>
                      </a:r>
                      <a:endParaRPr lang="en-US" altLang="ko-KR" sz="900" b="1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97.25%</a:t>
                      </a:r>
                      <a:endParaRPr lang="en-US" altLang="ko-KR" sz="900" b="1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97.00%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8629" marR="8629" marT="8630" marB="0" anchor="ctr"/>
                </a:tc>
                <a:extLst>
                  <a:ext uri="{0D108BD9-81ED-4DB2-BD59-A6C34878D82A}">
                    <a16:rowId xmlns:a16="http://schemas.microsoft.com/office/drawing/2014/main" val="1354484479"/>
                  </a:ext>
                </a:extLst>
              </a:tr>
            </a:tbl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ACA06F4C-5173-2DE9-78AA-A2B499ADBB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5835360"/>
              </p:ext>
            </p:extLst>
          </p:nvPr>
        </p:nvGraphicFramePr>
        <p:xfrm>
          <a:off x="328249" y="3594102"/>
          <a:ext cx="8596295" cy="2860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4EC45B8-E7F6-BE12-FA7C-FED525B4420F}"/>
              </a:ext>
            </a:extLst>
          </p:cNvPr>
          <p:cNvSpPr txBox="1"/>
          <p:nvPr/>
        </p:nvSpPr>
        <p:spPr>
          <a:xfrm>
            <a:off x="9037025" y="3540626"/>
            <a:ext cx="2914822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M0 : CNN</a:t>
            </a:r>
            <a:r>
              <a:rPr lang="ko-KR" altLang="en-US" sz="1400" dirty="0">
                <a:latin typeface="+mj-lt"/>
              </a:rPr>
              <a:t> 초기 모델</a:t>
            </a:r>
            <a:endParaRPr lang="en-US" altLang="ko-KR" sz="1400" dirty="0">
              <a:latin typeface="+mj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M5 : CNN </a:t>
            </a:r>
            <a:r>
              <a:rPr lang="ko-KR" altLang="en-US" sz="1400" dirty="0">
                <a:latin typeface="+mj-lt"/>
              </a:rPr>
              <a:t>최신 모델</a:t>
            </a:r>
            <a:endParaRPr lang="en-US" altLang="ko-KR" sz="1400" dirty="0">
              <a:latin typeface="+mj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Matching rate : 97% (M5)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CDD2CB-E1A6-5F10-D46B-F208AD0DD104}"/>
              </a:ext>
            </a:extLst>
          </p:cNvPr>
          <p:cNvSpPr txBox="1"/>
          <p:nvPr/>
        </p:nvSpPr>
        <p:spPr>
          <a:xfrm>
            <a:off x="7611918" y="6281918"/>
            <a:ext cx="653308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SUM</a:t>
            </a:r>
            <a:endParaRPr lang="ko-KR" altLang="en-US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ADC43D-906B-7338-C750-2FD806F8C6CC}"/>
              </a:ext>
            </a:extLst>
          </p:cNvPr>
          <p:cNvSpPr txBox="1"/>
          <p:nvPr/>
        </p:nvSpPr>
        <p:spPr>
          <a:xfrm>
            <a:off x="6727998" y="6271255"/>
            <a:ext cx="65330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Samp10</a:t>
            </a:r>
            <a:endParaRPr lang="ko-KR" altLang="en-US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3589B5-FFC8-D929-CC30-1C981B3F264A}"/>
              </a:ext>
            </a:extLst>
          </p:cNvPr>
          <p:cNvSpPr txBox="1"/>
          <p:nvPr/>
        </p:nvSpPr>
        <p:spPr>
          <a:xfrm>
            <a:off x="5844078" y="6267940"/>
            <a:ext cx="65330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Samp9</a:t>
            </a:r>
            <a:endParaRPr lang="ko-KR" altLang="en-US" sz="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44AC9C-3D38-E660-2A05-F9D561D08A02}"/>
              </a:ext>
            </a:extLst>
          </p:cNvPr>
          <p:cNvSpPr txBox="1"/>
          <p:nvPr/>
        </p:nvSpPr>
        <p:spPr>
          <a:xfrm>
            <a:off x="4960158" y="6271255"/>
            <a:ext cx="65330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Samp8</a:t>
            </a:r>
            <a:endParaRPr lang="ko-KR" altLang="en-US" sz="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A41F3A-A393-5924-5868-86DFD7C258E7}"/>
              </a:ext>
            </a:extLst>
          </p:cNvPr>
          <p:cNvSpPr txBox="1"/>
          <p:nvPr/>
        </p:nvSpPr>
        <p:spPr>
          <a:xfrm>
            <a:off x="4076238" y="6267940"/>
            <a:ext cx="65330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Samp7</a:t>
            </a:r>
            <a:endParaRPr lang="ko-KR" altLang="en-US" sz="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1AEDF8-2CD1-6273-DCB6-FC02D5270D0B}"/>
              </a:ext>
            </a:extLst>
          </p:cNvPr>
          <p:cNvSpPr txBox="1"/>
          <p:nvPr/>
        </p:nvSpPr>
        <p:spPr>
          <a:xfrm>
            <a:off x="3192318" y="6271255"/>
            <a:ext cx="65330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Samp6</a:t>
            </a:r>
            <a:endParaRPr lang="ko-KR" altLang="en-US" sz="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7B0431-D7E1-F80F-AAA2-A8866F10773C}"/>
              </a:ext>
            </a:extLst>
          </p:cNvPr>
          <p:cNvSpPr txBox="1"/>
          <p:nvPr/>
        </p:nvSpPr>
        <p:spPr>
          <a:xfrm>
            <a:off x="2308398" y="6267940"/>
            <a:ext cx="65330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Samp5</a:t>
            </a:r>
            <a:endParaRPr lang="ko-KR" altLang="en-US" sz="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5F3D0E-1564-BEA1-48B2-1DE77FBB63A2}"/>
              </a:ext>
            </a:extLst>
          </p:cNvPr>
          <p:cNvSpPr txBox="1"/>
          <p:nvPr/>
        </p:nvSpPr>
        <p:spPr>
          <a:xfrm>
            <a:off x="1474247" y="6275822"/>
            <a:ext cx="65330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Samp4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4258169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A5E3F-DF96-A23B-A41E-5DA6973E0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8BD1E59A-1B36-9CB7-085D-5BB861D5A8E2}"/>
              </a:ext>
            </a:extLst>
          </p:cNvPr>
          <p:cNvSpPr txBox="1"/>
          <p:nvPr/>
        </p:nvSpPr>
        <p:spPr>
          <a:xfrm>
            <a:off x="360000" y="360000"/>
            <a:ext cx="368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j-lt"/>
              </a:rPr>
              <a:t>2. Interpolation and integration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E1E320-C089-BDEA-285B-BD033A4BB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25" y="830232"/>
            <a:ext cx="6501264" cy="56677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C57072-6E49-7E56-2932-A5B678FFE5EF}"/>
              </a:ext>
            </a:extLst>
          </p:cNvPr>
          <p:cNvSpPr txBox="1"/>
          <p:nvPr/>
        </p:nvSpPr>
        <p:spPr>
          <a:xfrm>
            <a:off x="7452433" y="830232"/>
            <a:ext cx="3680366" cy="425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+mj-lt"/>
              </a:rPr>
              <a:t>Setting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Fourier Transform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+mj-lt"/>
              </a:rPr>
              <a:t>Savitzky</a:t>
            </a:r>
            <a:r>
              <a:rPr lang="en-US" altLang="ko-KR" sz="1400" dirty="0">
                <a:latin typeface="+mj-lt"/>
              </a:rPr>
              <a:t>-Golay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+mj-lt"/>
              </a:rPr>
              <a:t>Fourier Transform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Freq. Cutoff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 err="1">
                <a:latin typeface="+mj-lt"/>
              </a:rPr>
              <a:t>Savitzky</a:t>
            </a:r>
            <a:r>
              <a:rPr lang="en-US" altLang="ko-KR" sz="1400" b="1" dirty="0">
                <a:latin typeface="+mj-lt"/>
              </a:rPr>
              <a:t>-Golay </a:t>
            </a:r>
            <a:r>
              <a:rPr lang="en-US" altLang="ko-KR" sz="1400" b="1" dirty="0" err="1">
                <a:latin typeface="+mj-lt"/>
              </a:rPr>
              <a:t>Fliter</a:t>
            </a:r>
            <a:endParaRPr lang="en-US" altLang="ko-KR" sz="1400" b="1" dirty="0">
              <a:latin typeface="+mj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+mj-lt"/>
              </a:rPr>
              <a:t>Window_length</a:t>
            </a:r>
            <a:endParaRPr lang="en-US" altLang="ko-KR" sz="1400" dirty="0">
              <a:latin typeface="+mj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+mj-lt"/>
              </a:rPr>
              <a:t>Polyorder</a:t>
            </a:r>
            <a:endParaRPr lang="en-US" altLang="ko-KR" sz="1400" dirty="0">
              <a:latin typeface="+mj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+mj-lt"/>
              </a:rPr>
              <a:t>Linear interpolation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Center wavelength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lt"/>
              </a:rPr>
              <a:t>Span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+mj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 err="1">
                <a:solidFill>
                  <a:srgbClr val="FF0000"/>
                </a:solidFill>
                <a:latin typeface="+mj-lt"/>
              </a:rPr>
              <a:t>Interg</a:t>
            </a:r>
            <a:r>
              <a:rPr lang="en-US" altLang="ko-KR" sz="1400" b="1" dirty="0">
                <a:solidFill>
                  <a:srgbClr val="FF0000"/>
                </a:solidFill>
                <a:latin typeface="+mj-lt"/>
              </a:rPr>
              <a:t>. Val. </a:t>
            </a:r>
            <a:r>
              <a:rPr lang="en-US" altLang="ko-KR" sz="1400" b="1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 Quantification with Cal.</a:t>
            </a:r>
            <a:endParaRPr lang="en-US" altLang="ko-KR" sz="14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9318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776</Words>
  <Application>Microsoft Office PowerPoint</Application>
  <PresentationFormat>와이드스크린</PresentationFormat>
  <Paragraphs>258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Raman spectrum Model update &amp; Interpolation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Jeongsu Lee</dc:creator>
  <cp:lastModifiedBy>Jeongsu Lee</cp:lastModifiedBy>
  <cp:revision>18</cp:revision>
  <dcterms:created xsi:type="dcterms:W3CDTF">2024-11-18T13:49:22Z</dcterms:created>
  <dcterms:modified xsi:type="dcterms:W3CDTF">2025-02-04T01:48:02Z</dcterms:modified>
</cp:coreProperties>
</file>